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客户版封面：浅色、产品形态和一句话价值；不展开技术。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四类能力 + 三句真实对话：重点讲第三方智能体与 FM 语音报修，脱离电脑/手机。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问题-解决与试点建议：强调企业已有智能体/FM 系统可以继续用。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F9A"/>
                </a:solidFill>
                <a:latin typeface="PingFang SC"/>
              </a:rPr>
              <a:t>威思客 · 桌面 AI 助理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32461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1F3A"/>
                </a:solidFill>
                <a:latin typeface="PingFang SC"/>
              </a:rPr>
              <a:t>小威，</a:t>
            </a:r>
          </a:p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1F3A"/>
                </a:solidFill>
                <a:latin typeface="PingFang SC"/>
              </a:rPr>
              <a:t>你的桌面 AI 工牌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04288"/>
            <a:ext cx="31546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80" b="0">
                <a:solidFill>
                  <a:srgbClr val="5B6B7C"/>
                </a:solidFill>
                <a:latin typeface="PingFang SC"/>
              </a:rPr>
              <a:t>日程、工位、空间和企业服务，</a:t>
            </a:r>
          </a:p>
          <a:p>
            <a:pPr algn="l">
              <a:lnSpc>
                <a:spcPct val="145000"/>
              </a:lnSpc>
            </a:pPr>
            <a:r>
              <a:rPr sz="1080" b="0">
                <a:solidFill>
                  <a:srgbClr val="5B6B7C"/>
                </a:solidFill>
                <a:latin typeface="PingFang SC"/>
              </a:rPr>
              <a:t>抬头就能看见，开口就能完成。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75887" y="749808"/>
            <a:ext cx="3456432" cy="3931920"/>
          </a:xfrm>
          <a:prstGeom prst="roundRect">
            <a:avLst>
              <a:gd name="adj" fmla="val 10000"/>
            </a:avLst>
          </a:prstGeom>
          <a:solidFill>
            <a:srgbClr val="E8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rsical-4b-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850392"/>
            <a:ext cx="3200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4160520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>
                <a:solidFill>
                  <a:srgbClr val="5B6B7C"/>
                </a:solidFill>
                <a:latin typeface="PingFang SC"/>
              </a:rPr>
              <a:t>产品效果示意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246120"/>
            <a:ext cx="420624" cy="420624"/>
          </a:xfrm>
          <a:prstGeom prst="roundRect">
            <a:avLst>
              <a:gd name="adj" fmla="val 16000"/>
            </a:avLst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2783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PingFang SC"/>
              </a:rPr>
              <a:t>电子工牌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50215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30" b="0">
                <a:solidFill>
                  <a:srgbClr val="5B6B7C"/>
                </a:solidFill>
                <a:latin typeface="PingFang SC"/>
              </a:rPr>
              <a:t>姓名、部门、工位、在场状态</a:t>
            </a:r>
          </a:p>
          <a:p>
            <a:pPr algn="l">
              <a:lnSpc>
                <a:spcPct val="135000"/>
              </a:lnSpc>
            </a:pPr>
            <a:r>
              <a:rPr sz="830" b="0">
                <a:solidFill>
                  <a:srgbClr val="5B6B7C"/>
                </a:solidFill>
                <a:latin typeface="PingFang SC"/>
              </a:rPr>
              <a:t>一屏呈现，访客也能一眼识别。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178808"/>
            <a:ext cx="420624" cy="420624"/>
          </a:xfrm>
          <a:prstGeom prst="roundRect">
            <a:avLst>
              <a:gd name="adj" fmla="val 16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16052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PingFang SC"/>
              </a:rPr>
              <a:t>会议与空间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43484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30" b="0">
                <a:solidFill>
                  <a:srgbClr val="5B6B7C"/>
                </a:solidFill>
                <a:latin typeface="PingFang SC"/>
              </a:rPr>
              <a:t>预约会议室/会议、下一场提醒</a:t>
            </a:r>
          </a:p>
          <a:p>
            <a:pPr algn="l">
              <a:lnSpc>
                <a:spcPct val="135000"/>
              </a:lnSpc>
            </a:pPr>
            <a:r>
              <a:rPr sz="830" b="0">
                <a:solidFill>
                  <a:srgbClr val="5B6B7C"/>
                </a:solidFill>
                <a:latin typeface="PingFang SC"/>
              </a:rPr>
              <a:t>会议室指引，一句话搞定。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11496"/>
            <a:ext cx="420624" cy="420624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509320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PingFang SC"/>
              </a:rPr>
              <a:t>桌面服务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536752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30" b="0">
                <a:solidFill>
                  <a:srgbClr val="5B6B7C"/>
                </a:solidFill>
                <a:latin typeface="PingFang SC"/>
              </a:rPr>
              <a:t>问环境、开灯调空调、智能体任务</a:t>
            </a:r>
          </a:p>
          <a:p>
            <a:pPr algn="l">
              <a:lnSpc>
                <a:spcPct val="135000"/>
              </a:lnSpc>
            </a:pPr>
            <a:r>
              <a:rPr sz="830" b="0">
                <a:solidFill>
                  <a:srgbClr val="5B6B7C"/>
                </a:solidFill>
                <a:latin typeface="PingFang SC"/>
              </a:rPr>
              <a:t>FM 报修，不用打开电脑。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6263640"/>
            <a:ext cx="6400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6473952"/>
            <a:ext cx="5989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14213D"/>
                </a:solidFill>
                <a:latin typeface="PingFang SC"/>
              </a:rPr>
              <a:t>4 英寸 480×480 触控屏   ·   双麦克风 / 双喇叭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693408"/>
            <a:ext cx="5989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>
                <a:solidFill>
                  <a:srgbClr val="5B6B7C"/>
                </a:solidFill>
                <a:latin typeface="PingFang SC"/>
              </a:rPr>
              <a:t>5V / 1A Type-C 供电   ·   Wi-Fi 连接   ·   86.5 × 86.5 × 14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705916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5B6B7C"/>
                </a:solidFill>
                <a:latin typeface="PingFang SC"/>
              </a:rPr>
              <a:t>桌面摆放示意</a:t>
            </a:r>
          </a:p>
        </p:txBody>
      </p:sp>
      <p:pic>
        <p:nvPicPr>
          <p:cNvPr id="22" name="Picture 21" descr="virsical-desk-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7278624"/>
            <a:ext cx="6400800" cy="21305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6928" y="1001268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B7C"/>
                </a:solidFill>
                <a:latin typeface="PingFang SC"/>
              </a:rPr>
              <a:t>产品效果示意；功能以实际交付版本为准。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0E9F9A"/>
                </a:solidFill>
                <a:latin typeface="PingFang SC"/>
              </a:rPr>
              <a:t>ONE VOICE, ONE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400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B1F3A"/>
                </a:solidFill>
                <a:latin typeface="PingFang SC"/>
              </a:rPr>
              <a:t>威思客的能力，一句话就能调用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>
                <a:solidFill>
                  <a:srgbClr val="5B6B7C"/>
                </a:solidFill>
                <a:latin typeface="PingFang SC"/>
              </a:rPr>
              <a:t>订会议室、调空调、发起智能体任务、报修——都不需要打开电脑。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971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2971800" cy="73152"/>
          </a:xfrm>
          <a:prstGeom prst="roundRect">
            <a:avLst>
              <a:gd name="adj" fmla="val 4000"/>
            </a:avLst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1">
                <a:solidFill>
                  <a:srgbClr val="0B1F3A"/>
                </a:solidFill>
                <a:latin typeface="PingFang SC"/>
              </a:rPr>
              <a:t>会议与预约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48256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预约会议室 / 会议</a:t>
            </a:r>
          </a:p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临时会议 · 下一场提醒</a:t>
            </a:r>
          </a:p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会议室指引</a:t>
            </a:r>
          </a:p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访客到访通知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5615" y="1572768"/>
            <a:ext cx="2971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85615" y="1572768"/>
            <a:ext cx="2971800" cy="73152"/>
          </a:xfrm>
          <a:prstGeom prst="roundRect">
            <a:avLst>
              <a:gd name="adj" fmla="val 4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173736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1">
                <a:solidFill>
                  <a:srgbClr val="0B1F3A"/>
                </a:solidFill>
                <a:latin typeface="PingFang SC"/>
              </a:rPr>
              <a:t>环境与设备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048256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温度 / 空气质量 / 占用</a:t>
            </a:r>
          </a:p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语音开灯、调空调</a:t>
            </a:r>
          </a:p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场景一键切换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18688"/>
            <a:ext cx="2971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218688"/>
            <a:ext cx="2971800" cy="73152"/>
          </a:xfrm>
          <a:prstGeom prst="roundRect">
            <a:avLst>
              <a:gd name="adj" fmla="val 4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38328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1">
                <a:solidFill>
                  <a:srgbClr val="0B1F3A"/>
                </a:solidFill>
                <a:latin typeface="PingFang SC"/>
              </a:rPr>
              <a:t>第三方智能体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694176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威思客服务平台接入</a:t>
            </a:r>
          </a:p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WorkBuddy / 豆包办公 / 千问 Go</a:t>
            </a:r>
          </a:p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语音任务 + 结果播报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85615" y="3218688"/>
            <a:ext cx="2971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85615" y="3218688"/>
            <a:ext cx="2971800" cy="73152"/>
          </a:xfrm>
          <a:prstGeom prst="roundRect">
            <a:avLst>
              <a:gd name="adj" fmla="val 4000"/>
            </a:avLst>
          </a:prstGeom>
          <a:solidFill>
            <a:srgbClr val="7C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338328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1">
                <a:solidFill>
                  <a:srgbClr val="0B1F3A"/>
                </a:solidFill>
                <a:latin typeface="PingFang SC"/>
              </a:rPr>
              <a:t>FM 设施服务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694176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语音说位置 / 设备 / 故障</a:t>
            </a:r>
          </a:p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自动生成报修工单</a:t>
            </a:r>
          </a:p>
          <a:p>
            <a:pPr algn="l">
              <a:lnSpc>
                <a:spcPct val="14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进度可查、完成通知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828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PingFang SC"/>
              </a:rPr>
              <a:t>四句话，桌面上就能办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175504"/>
            <a:ext cx="64008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5312664"/>
            <a:ext cx="219456" cy="219456"/>
          </a:xfrm>
          <a:prstGeom prst="ellipse">
            <a:avLst/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5" y="5248656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1">
                <a:solidFill>
                  <a:srgbClr val="14213D"/>
                </a:solidFill>
                <a:latin typeface="PingFang SC"/>
              </a:rPr>
              <a:t>“帮我订明天 10 点、8 人的会议室。”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5248656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>
                <a:solidFill>
                  <a:srgbClr val="4A6CF7"/>
                </a:solidFill>
                <a:latin typeface="PingFang SC"/>
              </a:rPr>
              <a:t>已预订 3F-A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5" y="547725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5B6B7C"/>
                </a:solidFill>
                <a:latin typeface="PingFang SC"/>
              </a:rPr>
              <a:t>小威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33872"/>
            <a:ext cx="64008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3232" y="5971032"/>
            <a:ext cx="219456" cy="219456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5" y="5907024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1">
                <a:solidFill>
                  <a:srgbClr val="14213D"/>
                </a:solidFill>
                <a:latin typeface="PingFang SC"/>
              </a:rPr>
              <a:t>“现在会议室多少度？空调调到 24 度。”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590702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>
                <a:solidFill>
                  <a:srgbClr val="0E9F9A"/>
                </a:solidFill>
                <a:latin typeface="PingFang SC"/>
              </a:rPr>
              <a:t>24°C · 已调整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5" y="613562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5B6B7C"/>
                </a:solidFill>
                <a:latin typeface="PingFang SC"/>
              </a:rPr>
              <a:t>小威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6492240"/>
            <a:ext cx="64008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3232" y="6629400"/>
            <a:ext cx="219456" cy="21945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5" y="6565392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1">
                <a:solidFill>
                  <a:srgbClr val="14213D"/>
                </a:solidFill>
                <a:latin typeface="PingFang SC"/>
              </a:rPr>
              <a:t>“WorkBuddy 上今天还有什么待办？”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6565392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>
                <a:solidFill>
                  <a:srgbClr val="E8A33D"/>
                </a:solidFill>
                <a:latin typeface="PingFang SC"/>
              </a:rPr>
              <a:t>已同步 3 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5" y="6793992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5B6B7C"/>
                </a:solidFill>
                <a:latin typeface="PingFang SC"/>
              </a:rPr>
              <a:t>小威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7150608"/>
            <a:ext cx="64008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232" y="7287768"/>
            <a:ext cx="219456" cy="219456"/>
          </a:xfrm>
          <a:prstGeom prst="ellipse">
            <a:avLst/>
          </a:prstGeom>
          <a:solidFill>
            <a:srgbClr val="7C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5" y="7223760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1">
                <a:solidFill>
                  <a:srgbClr val="14213D"/>
                </a:solidFill>
                <a:latin typeface="PingFang SC"/>
              </a:rPr>
              <a:t>“3 楼走廊的灯坏了，帮我报修。”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722376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>
                <a:solidFill>
                  <a:srgbClr val="7C5CE5"/>
                </a:solidFill>
                <a:latin typeface="PingFang SC"/>
              </a:rPr>
              <a:t>工单 FM-1024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5" y="7452360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5B6B7C"/>
                </a:solidFill>
                <a:latin typeface="PingFang SC"/>
              </a:rPr>
              <a:t>小威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7973568"/>
            <a:ext cx="6400800" cy="512064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8119872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>
                <a:solidFill>
                  <a:srgbClr val="FFFFFF"/>
                </a:solidFill>
                <a:latin typeface="PingFang SC"/>
              </a:rPr>
              <a:t>语音发起   ·   桌面完成   ·   结果播报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8705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会议 · 工位 · 环境 · 设备 · 服务 · 智能体，统一由小威承接。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910742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B1F3A"/>
                </a:solidFill>
                <a:latin typeface="PingFang SC"/>
              </a:rPr>
              <a:t>可扩展功能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81328" y="9070848"/>
            <a:ext cx="1700784" cy="329184"/>
          </a:xfrm>
          <a:prstGeom prst="roundRect">
            <a:avLst>
              <a:gd name="adj" fmla="val 1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0B6E6B"/>
                </a:solidFill>
                <a:latin typeface="PingFang SC"/>
              </a:rPr>
              <a:t>工作时长分析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55264" y="9070848"/>
            <a:ext cx="1700784" cy="329184"/>
          </a:xfrm>
          <a:prstGeom prst="roundRect">
            <a:avLst>
              <a:gd name="adj" fmla="val 1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0B6E6B"/>
                </a:solidFill>
                <a:latin typeface="PingFang SC"/>
              </a:rPr>
              <a:t>久坐提醒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0" y="9070848"/>
            <a:ext cx="1700784" cy="329184"/>
          </a:xfrm>
          <a:prstGeom prst="roundRect">
            <a:avLst>
              <a:gd name="adj" fmla="val 1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0B6E6B"/>
                </a:solidFill>
                <a:latin typeface="PingFang SC"/>
              </a:rPr>
              <a:t>喝水提醒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949147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按企业需要开启；不改变现有使用方式，也不用安装多个客户端。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1001268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B7C"/>
                </a:solidFill>
                <a:latin typeface="PingFang SC"/>
              </a:rPr>
              <a:t>威思客 · 桌面 AI 助理 / 电子工牌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1001268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>
                <a:solidFill>
                  <a:srgbClr val="5B6B7C"/>
                </a:solidFill>
                <a:latin typeface="PingFang SC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0E9F9A"/>
                </a:solidFill>
                <a:latin typeface="PingFang SC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400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B1F3A"/>
                </a:solidFill>
                <a:latin typeface="PingFang SC"/>
              </a:rPr>
              <a:t>它帮你解决哪些问题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C"/>
                </a:solidFill>
                <a:latin typeface="PingFang SC"/>
              </a:rPr>
              <a:t>把重复操作和分散信息，收回到桌面这一块屏。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30175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627631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到岗签到要开电脑 / 手机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048255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9F9A"/>
                </a:solidFill>
                <a:latin typeface="PingFang SC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0824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6E6B"/>
                </a:solidFill>
                <a:latin typeface="PingFang SC"/>
              </a:rPr>
              <a:t>落座一键或语音签到，工位状态自动更新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3048" y="1517904"/>
            <a:ext cx="30175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41063" y="1627631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订会议室要开电脑、找行政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1063" y="2048255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9F9A"/>
                </a:solidFill>
                <a:latin typeface="PingFang S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2020824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6E6B"/>
                </a:solidFill>
                <a:latin typeface="PingFang SC"/>
              </a:rPr>
              <a:t>一句话查档期、订会议室、发会议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96896"/>
            <a:ext cx="30175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70662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会议信息散落在日历 / 邮件 / 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12724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9F9A"/>
                </a:solidFill>
                <a:latin typeface="PingFang S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099815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6E6B"/>
                </a:solidFill>
                <a:latin typeface="PingFang SC"/>
              </a:rPr>
              <a:t>下一场会议、倒计时、会议室直接上屏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3048" y="2596896"/>
            <a:ext cx="30175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41063" y="270662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不知道环境、找不到遥控器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1063" y="312724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9F9A"/>
                </a:solidFill>
                <a:latin typeface="PingFang SC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3099815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6E6B"/>
                </a:solidFill>
                <a:latin typeface="PingFang SC"/>
              </a:rPr>
              <a:t>问温度/空气质量，语音开灯、调空调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75887"/>
            <a:ext cx="30175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85615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离开电脑就办不了智能体任务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20624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9F9A"/>
                </a:solidFill>
                <a:latin typeface="PingFang S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178807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6E6B"/>
                </a:solidFill>
                <a:latin typeface="PingFang SC"/>
              </a:rPr>
              <a:t>WorkBuddy / 豆包 / 千问结果</a:t>
            </a:r>
          </a:p>
          <a:p>
            <a:pPr algn="l">
              <a:lnSpc>
                <a:spcPct val="115000"/>
              </a:lnSpc>
            </a:pPr>
            <a:r>
              <a:rPr sz="780" b="1">
                <a:solidFill>
                  <a:srgbClr val="0B6E6B"/>
                </a:solidFill>
                <a:latin typeface="PingFang SC"/>
              </a:rPr>
              <a:t>推送到桌面 AI 助理并报备。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3048" y="3675887"/>
            <a:ext cx="30175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41063" y="3785615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报修要打电话、填表、反复催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3" y="420624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9F9A"/>
                </a:solidFill>
                <a:latin typeface="PingFang SC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8808" y="4178807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6E6B"/>
                </a:solidFill>
                <a:latin typeface="PingFang SC"/>
              </a:rPr>
              <a:t>语音说故障，自动生成工单，进度可查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754880"/>
            <a:ext cx="30175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486460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工牌只是静态身份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285232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9F9A"/>
                </a:solidFill>
                <a:latin typeface="PingFang SC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2578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6E6B"/>
                </a:solidFill>
                <a:latin typeface="PingFang SC"/>
              </a:rPr>
              <a:t>动态身份、在场状态、访客与新人识别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3048" y="4754880"/>
            <a:ext cx="301752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41063" y="486460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桌面缺少 AI 入口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41063" y="5285232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9F9A"/>
                </a:solidFill>
                <a:latin typeface="PingFang SC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8808" y="52578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6E6B"/>
                </a:solidFill>
                <a:latin typeface="PingFang SC"/>
              </a:rPr>
              <a:t>免提唤醒“你好，小威”，随时可用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01675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F3A"/>
                </a:solidFill>
                <a:latin typeface="PingFang SC"/>
              </a:rPr>
              <a:t>适合所有工位场景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6291072"/>
            <a:ext cx="2999232" cy="310896"/>
          </a:xfrm>
          <a:prstGeom prst="roundRect">
            <a:avLst>
              <a:gd name="adj" fmla="val 1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0B6E6B"/>
                </a:solidFill>
                <a:latin typeface="PingFang SC"/>
              </a:rPr>
              <a:t>固定工位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13048" y="6291072"/>
            <a:ext cx="2999232" cy="310896"/>
          </a:xfrm>
          <a:prstGeom prst="roundRect">
            <a:avLst>
              <a:gd name="adj" fmla="val 1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0B6E6B"/>
                </a:solidFill>
                <a:latin typeface="PingFang SC"/>
              </a:rPr>
              <a:t>共享工位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6729983"/>
            <a:ext cx="2999232" cy="310896"/>
          </a:xfrm>
          <a:prstGeom prst="roundRect">
            <a:avLst>
              <a:gd name="adj" fmla="val 1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0B6E6B"/>
                </a:solidFill>
                <a:latin typeface="PingFang SC"/>
              </a:rPr>
              <a:t>混合办公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13048" y="6729983"/>
            <a:ext cx="2999232" cy="310896"/>
          </a:xfrm>
          <a:prstGeom prst="roundRect">
            <a:avLst>
              <a:gd name="adj" fmla="val 1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0B6E6B"/>
                </a:solidFill>
                <a:latin typeface="PingFang SC"/>
              </a:rPr>
              <a:t>多园区组织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73334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B1F3A"/>
                </a:solidFill>
                <a:latin typeface="PingFang SC"/>
              </a:rPr>
              <a:t>设备与接口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7626096"/>
            <a:ext cx="640080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13232" y="7772400"/>
            <a:ext cx="1133856" cy="9875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78638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B6B7C"/>
                </a:solidFill>
                <a:latin typeface="PingFang SC"/>
              </a:rPr>
              <a:t>供电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" y="806500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1F3A"/>
                </a:solidFill>
                <a:latin typeface="PingFang SC"/>
              </a:rPr>
              <a:t>5V / 1A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" y="837590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>
                <a:solidFill>
                  <a:srgbClr val="5B6B7C"/>
                </a:solidFill>
                <a:latin typeface="PingFang SC"/>
              </a:rPr>
              <a:t>Type-C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56816" y="7772400"/>
            <a:ext cx="1133856" cy="9875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48256" y="78638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B6B7C"/>
                </a:solidFill>
                <a:latin typeface="PingFang SC"/>
              </a:rPr>
              <a:t>网络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48256" y="806500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1F3A"/>
                </a:solidFill>
                <a:latin typeface="PingFang SC"/>
              </a:rPr>
              <a:t>Wi-Fi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48256" y="837590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>
                <a:solidFill>
                  <a:srgbClr val="5B6B7C"/>
                </a:solidFill>
                <a:latin typeface="PingFang SC"/>
              </a:rPr>
              <a:t>无线连接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0" y="7772400"/>
            <a:ext cx="1133856" cy="9875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0" y="78638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B6B7C"/>
                </a:solidFill>
                <a:latin typeface="PingFang SC"/>
              </a:rPr>
              <a:t>拾音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806500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1F3A"/>
                </a:solidFill>
                <a:latin typeface="PingFang SC"/>
              </a:rPr>
              <a:t>双麦克风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837590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>
                <a:solidFill>
                  <a:srgbClr val="5B6B7C"/>
                </a:solidFill>
                <a:latin typeface="PingFang SC"/>
              </a:rPr>
              <a:t>远场拾音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43984" y="7772400"/>
            <a:ext cx="1133856" cy="9875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35424" y="78638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B6B7C"/>
                </a:solidFill>
                <a:latin typeface="PingFang SC"/>
              </a:rPr>
              <a:t>播放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35424" y="806500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1F3A"/>
                </a:solidFill>
                <a:latin typeface="PingFang SC"/>
              </a:rPr>
              <a:t>双喇叭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5424" y="837590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>
                <a:solidFill>
                  <a:srgbClr val="5B6B7C"/>
                </a:solidFill>
                <a:latin typeface="PingFang SC"/>
              </a:rPr>
              <a:t>语音播报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87568" y="7772400"/>
            <a:ext cx="1133856" cy="9875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79008" y="78638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B6B7C"/>
                </a:solidFill>
                <a:latin typeface="PingFang SC"/>
              </a:rPr>
              <a:t>交互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79008" y="806500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0B1F3A"/>
                </a:solidFill>
                <a:latin typeface="PingFang SC"/>
              </a:rPr>
              <a:t>4" 触控屏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79008" y="837590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>
                <a:solidFill>
                  <a:srgbClr val="5B6B7C"/>
                </a:solidFill>
                <a:latin typeface="PingFang SC"/>
              </a:rPr>
              <a:t>侧边按键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90708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典型需求：共享工位、会议多、环境/能耗关注、企业智能体已上线、FM 报修量大。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95280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F3A"/>
                </a:solidFill>
                <a:latin typeface="PingFang SC"/>
              </a:rPr>
              <a:t>威思客 · 产品与解决方案团队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9802368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B7C"/>
                </a:solidFill>
                <a:latin typeface="PingFang SC"/>
              </a:rPr>
              <a:t>产品效果示意；功能以实际交付版本为准。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952804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>
                <a:solidFill>
                  <a:srgbClr val="5B6B7C"/>
                </a:solidFill>
                <a:latin typeface="PingFang SC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小威 · 桌面 AI 助理 / 电子工牌（客户版）</dc:title>
  <dc:subject/>
  <dc:creator>威思客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