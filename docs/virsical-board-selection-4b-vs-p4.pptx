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5D0BA"/>
                </a:solidFill>
                <a:latin typeface="PingFang SC"/>
                <a:ea typeface="PingFang SC"/>
                <a:cs typeface="PingFang SC"/>
              </a:rPr>
              <a:t>HARDWARE SELECTION · 2026.10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6766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同样 4 英寸，</a:t>
            </a:r>
          </a:p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两种芯片路线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35808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0" i="0">
                <a:solidFill>
                  <a:srgbClr val="D6E4F0"/>
                </a:solidFill>
                <a:latin typeface="PingFang SC"/>
                <a:ea typeface="PingFang SC"/>
                <a:cs typeface="PingFang SC"/>
              </a:rPr>
              <a:t>ESP32-S3-Touch-LCD-4B  vs  ESP32-P4-WIFI6-Touch-LCD-4B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346704"/>
            <a:ext cx="6766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FB6C9"/>
                </a:solidFill>
                <a:latin typeface="PingFang SC"/>
                <a:ea typeface="PingFang SC"/>
                <a:cs typeface="PingFang SC"/>
              </a:rPr>
              <a:t>（含 86 Panel ETH-2RO 变体）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822191"/>
            <a:ext cx="4617720" cy="40233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35D0BA"/>
                </a:solidFill>
                <a:latin typeface="PingFang SC"/>
                <a:ea typeface="PingFang SC"/>
                <a:cs typeface="PingFang SC"/>
              </a:rPr>
              <a:t>结论：一期选 ESP32-S3-Touch-LCD-4B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535424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B8CCDC"/>
                </a:solidFill>
                <a:latin typeface="PingFang SC"/>
                <a:ea typeface="PingFang SC"/>
                <a:cs typeface="PingFang SC"/>
              </a:rPr>
              <a:t>480×480 方形屏 · IMU / RTC · 固件与 UI 已就绪 · 固定外接供电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864608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5D0BA"/>
                </a:solidFill>
                <a:latin typeface="PingFang SC"/>
                <a:ea typeface="PingFang SC"/>
                <a:cs typeface="PingFang SC"/>
              </a:rPr>
              <a:t>P4 的算力、720×720 与网口更适合会议室门口屏，而不是桌面工牌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533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F98AE"/>
                </a:solidFill>
                <a:latin typeface="PingFang SC"/>
                <a:ea typeface="PingFang SC"/>
                <a:cs typeface="PingFang SC"/>
              </a:rPr>
              <a:t>内部讨论稿 · 2026-10-26 · 基于微雪官方文档与本仓库板级实现核对</a:t>
            </a:r>
          </a:p>
        </p:txBody>
      </p:sp>
      <p:pic>
        <p:nvPicPr>
          <p:cNvPr id="11" name="Picture 10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1298448"/>
            <a:ext cx="3977639" cy="39776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21040" y="546811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9FB6C9"/>
                </a:solidFill>
                <a:latin typeface="PingFang SC"/>
                <a:ea typeface="PingFang SC"/>
                <a:cs typeface="PingFang SC"/>
              </a:rPr>
              <a:t>4" 480×480 · 86 盒家族 · 桌面工牌 UI 示意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THE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一期选 S3-4B：三块板的加权得分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权重：产品匹配 35% · 交付风险 25% · 成本交期 15% · 语音 15% · 扩展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威思客 · 桌面 AI 助理 / 电子工牌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654710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内部讨论稿 ·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471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64208"/>
            <a:ext cx="3493008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1792224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S3-4B · 32052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75104"/>
            <a:ext cx="1188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8.2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239572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688336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ESP32-S3-Touch-LCD-4B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962656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480×480 · IMU + RTC · 板级已就绪 · 固定 5V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8688" y="1773936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推荐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1664208"/>
            <a:ext cx="3493008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35424" y="1792224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P4-4B · 31416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1975104"/>
            <a:ext cx="1188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E8A33D"/>
                </a:solidFill>
                <a:latin typeface="PingFang SC"/>
                <a:ea typeface="PingFang SC"/>
                <a:cs typeface="PingFang SC"/>
              </a:rPr>
              <a:t>7.6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384" y="239572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2688336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ESP32-P4-WIFI6-Touch-LCD-4B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2962656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720×720 · 双麦更强 · 无 IMU · 双芯片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1664208"/>
            <a:ext cx="3493008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02752" y="1792224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P4-86Panel · 31570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1975104"/>
            <a:ext cx="1188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4453A"/>
                </a:solidFill>
                <a:latin typeface="PingFang SC"/>
                <a:ea typeface="PingFang SC"/>
                <a:cs typeface="PingFang SC"/>
              </a:rPr>
              <a:t>5.8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239572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/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2688336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ESP32-P4-86-Panel-ETH-2RO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2962656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网口 / RS485 / 继电器 · 墙面工程形态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611880"/>
            <a:ext cx="3493008" cy="19751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68096" y="3749039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398678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2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480×480 与板级都已就绪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4407408"/>
            <a:ext cx="309067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69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本仓库已是目标板，唤醒词、手势、控制通道验证都在 S3 上；480×480 工牌方案也按它写定。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" y="5266944"/>
            <a:ext cx="3035808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68096" y="5358384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影响：试点排期 · 首版交付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4256" y="3611880"/>
            <a:ext cx="3493008" cy="19751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35424" y="3749039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398678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2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单芯片、成本与交期更低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35424" y="4407408"/>
            <a:ext cx="309067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69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S3 单芯片、供货成熟；P4 要 P4 + C6 两颗芯片，国内商城 4B 当前缺货，30–50 台交期需先锁。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35424" y="5266944"/>
            <a:ext cx="3035808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35424" y="5358384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影响：BOM · 采购风险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01583" y="3611880"/>
            <a:ext cx="3493008" cy="19751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302752" y="3749039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2" y="398678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2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720p / 双麦 / 摄像头不是一期刚需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4407408"/>
            <a:ext cx="309067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69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去掉电池后 P4 的短板只剩 IMU；工牌核心是「姓名 + 下一场会议」，480×480 够用。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02752" y="5266944"/>
            <a:ext cx="3035808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302752" y="5358384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影响：规格签样 · 二代迁移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5797296"/>
            <a:ext cx="11055096" cy="12801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66928" y="592531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电池已不是差异项；0.6 分的差距主要在交付确定性——供应、双芯片与成本，而不是产品能力。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THREE SKUS, TWO WORLDS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尺寸相同，物种不同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都在 4 英寸 86 盒家族，但供电、结构与目标场景决定了它们不是一类产品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威思客 · 桌面 AI 助理 / 电子工牌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654710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内部讨论稿 ·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471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64208"/>
            <a:ext cx="3493008" cy="42611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3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14" y="1773936"/>
            <a:ext cx="1957235" cy="19385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8096" y="3822191"/>
            <a:ext cx="1170432" cy="219456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桌面 / 壁挂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114800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S3-4B · 32052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480560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69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▪  </a:t>
            </a:r>
            <a:r>
              <a:rPr sz="869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定位：单板，桌面或壁挂均可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4882896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69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▪  </a:t>
            </a:r>
            <a:r>
              <a:rPr sz="869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供电：USB-C 5V 固定外接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285232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69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▪  </a:t>
            </a:r>
            <a:r>
              <a:rPr sz="869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结构：86 盒孔位，可配底座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1664208"/>
            <a:ext cx="3493008" cy="42611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p4_fr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02" y="1773936"/>
            <a:ext cx="1956915" cy="193852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535424" y="3822191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桌面单板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4114800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P4-4B · 31416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4480560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69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▪  </a:t>
            </a:r>
            <a:r>
              <a:rPr sz="869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定位：可接 MIPI 摄像头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4882896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69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▪  </a:t>
            </a:r>
            <a:r>
              <a:rPr sz="869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供电：USB-C 5V 固定外接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5285232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69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▪  </a:t>
            </a:r>
            <a:r>
              <a:rPr sz="869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代价：720×720 UI 重做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3" y="1664208"/>
            <a:ext cx="3493008" cy="42611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p4_86_b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704" y="1773936"/>
            <a:ext cx="1950766" cy="193852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302752" y="3822191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B4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墙面工程面板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114800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P4-86Panel · 31570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4480560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69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▪  </a:t>
            </a:r>
            <a:r>
              <a:rPr sz="869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定位：主板 + 86 底盒底板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882896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69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▪  </a:t>
            </a:r>
            <a:r>
              <a:rPr sz="869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供电：DC 6–30V 接线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5285232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69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▪  </a:t>
            </a:r>
            <a:r>
              <a:rPr sz="869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接口：RJ45 / RS485 / 2 路继电器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053328"/>
            <a:ext cx="11055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注：P4-86Panel 正面与 4B 同尺寸，差别在底板与接口；图为微雪官方产品图。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SPEC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硬件对照：差异在显示、IMU 与接口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同尺寸屏、同套音频 codec（ES8311 + ES7210）；差别集中在 SoC、存储、供电与扩展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威思客 · 桌面 AI 助理 / 电子工牌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654710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内部讨论稿 ·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471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45920"/>
          <a:ext cx="11055096" cy="376732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331720"/>
                <a:gridCol w="2907792"/>
                <a:gridCol w="2907792"/>
                <a:gridCol w="290779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79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</a:t>
                      </a:r>
                    </a:p>
                  </a:txBody>
                  <a:tcPr marL="91440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79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S3-4B</a:t>
                      </a:r>
                    </a:p>
                  </a:txBody>
                  <a:tcPr marL="91440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79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P4-4B</a:t>
                      </a:r>
                    </a:p>
                  </a:txBody>
                  <a:tcPr marL="91440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79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P4-86Panel</a:t>
                      </a:r>
                    </a:p>
                  </a:txBody>
                  <a:tcPr marL="91440" marR="54864" marT="18288" marB="18288" anchor="ctr">
                    <a:solidFill>
                      <a:srgbClr val="0B1F3A"/>
                    </a:solidFill>
                  </a:tcPr>
                </a:tc>
              </a:tr>
              <a:tr h="340156">
                <a:tc>
                  <a:txBody>
                    <a:bodyPr wrap="square"/>
                    <a:lstStyle/>
                    <a:p>
                      <a:pPr algn="l"/>
                      <a:r>
                        <a:rPr sz="860" b="1" i="0">
                          <a:solidFill>
                            <a:srgbClr val="1421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屏幕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4" 480×480 RGB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4" 720×720 MIPI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4" 720×720 MIPI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 wrap="square"/>
                    <a:lstStyle/>
                    <a:p>
                      <a:pPr algn="l"/>
                      <a:r>
                        <a:rPr sz="860" b="1" i="0">
                          <a:solidFill>
                            <a:srgbClr val="1421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SoC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ESP32-S3 双核 240MHz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ESP32-P4 双核 400MHz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 31416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</a:tr>
              <a:tr h="340156">
                <a:tc>
                  <a:txBody>
                    <a:bodyPr wrap="square"/>
                    <a:lstStyle/>
                    <a:p>
                      <a:pPr algn="l"/>
                      <a:r>
                        <a:rPr sz="860" b="1" i="0">
                          <a:solidFill>
                            <a:srgbClr val="1421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 / 存储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8MB PSRAM / 16MB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32MB / 32MB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32MB / 32MB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 wrap="square"/>
                    <a:lstStyle/>
                    <a:p>
                      <a:pPr algn="l"/>
                      <a:r>
                        <a:rPr sz="860" b="1" i="0">
                          <a:solidFill>
                            <a:srgbClr val="1421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无线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Wi-Fi 4 2.4G + BLE5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Wi-Fi 6（C6）+ BLE5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 31416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</a:tr>
              <a:tr h="340156">
                <a:tc>
                  <a:txBody>
                    <a:bodyPr wrap="square"/>
                    <a:lstStyle/>
                    <a:p>
                      <a:pPr algn="l"/>
                      <a:r>
                        <a:rPr sz="860" b="1" i="0">
                          <a:solidFill>
                            <a:srgbClr val="1421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有线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RJ45 百兆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 wrap="square"/>
                    <a:lstStyle/>
                    <a:p>
                      <a:pPr algn="l"/>
                      <a:r>
                        <a:rPr sz="860" b="1" i="0">
                          <a:solidFill>
                            <a:srgbClr val="1421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供电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USB-C 5V（板上可接锂电）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USB-C 5V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DC 6–30V（底板）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</a:tr>
              <a:tr h="340156">
                <a:tc>
                  <a:txBody>
                    <a:bodyPr wrap="square"/>
                    <a:lstStyle/>
                    <a:p>
                      <a:pPr algn="l"/>
                      <a:r>
                        <a:rPr sz="860" b="1" i="0">
                          <a:solidFill>
                            <a:srgbClr val="1421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IMU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QMI8658 六轴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 wrap="square"/>
                    <a:lstStyle/>
                    <a:p>
                      <a:pPr algn="l"/>
                      <a:r>
                        <a:rPr sz="860" b="1" i="0">
                          <a:solidFill>
                            <a:srgbClr val="1421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RTC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PCF85063（带电池）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内置 + 电池座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内置 + 电池座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</a:tr>
              <a:tr h="340156">
                <a:tc>
                  <a:txBody>
                    <a:bodyPr wrap="square"/>
                    <a:lstStyle/>
                    <a:p>
                      <a:pPr algn="l"/>
                      <a:r>
                        <a:rPr sz="860" b="1" i="0">
                          <a:solidFill>
                            <a:srgbClr val="1421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摄像头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MIPI CSI（OV5647）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未装配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 wrap="square"/>
                    <a:lstStyle/>
                    <a:p>
                      <a:pPr algn="l"/>
                      <a:r>
                        <a:rPr sz="860" b="1" i="0">
                          <a:solidFill>
                            <a:srgbClr val="1421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固件现状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已支持（本仓库）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通用 4B 已支持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无板级支持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504688"/>
            <a:ext cx="110550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数据来自微雪官方文档与本仓库板级实现。P4 的 Wi-Fi 由 ESP32-C6 协处理器经 SDIO 提供，同为 2.4GHz；
86 Panel 的 PHY 在主板，RJ45 / RS485 / 继电器在底板上。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FIT TO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按工牌需求逐项对照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✓ 原生支持　　△ 需要额外工作　　✗ 不具备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威思客 · 桌面 AI 助理 / 电子工牌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654710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内部讨论稿 ·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471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45920"/>
          <a:ext cx="11055096" cy="369874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834640"/>
                <a:gridCol w="2743200"/>
                <a:gridCol w="2743200"/>
                <a:gridCol w="273405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产品需求</a:t>
                      </a:r>
                    </a:p>
                  </a:txBody>
                  <a:tcPr marL="91440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S3-4B</a:t>
                      </a:r>
                    </a:p>
                  </a:txBody>
                  <a:tcPr marL="91440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P4-4B</a:t>
                      </a:r>
                    </a:p>
                  </a:txBody>
                  <a:tcPr marL="91440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P4-86Panel</a:t>
                      </a:r>
                    </a:p>
                  </a:txBody>
                  <a:tcPr marL="91440" marR="54864" marT="18288" marB="18288" anchor="ctr">
                    <a:solidFill>
                      <a:srgbClr val="0B1F3A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880" b="1" i="0">
                          <a:solidFill>
                            <a:srgbClr val="1421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4" 方形工牌 UI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0E9F9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480×480 已定义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E8A3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720×720 重做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E8A3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720×720 重做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880" b="1" i="0">
                          <a:solidFill>
                            <a:srgbClr val="1421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免提语音 + AEC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0E9F9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已验证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0E9F9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双麦更强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0E9F9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双麦更强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880" b="1" i="0">
                          <a:solidFill>
                            <a:srgbClr val="1421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会议提醒 / 推送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0E9F9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已跑通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0E9F9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已跑通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0E9F9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已跑通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880" b="1" i="0">
                          <a:solidFill>
                            <a:srgbClr val="1421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在场检测（IMU）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0E9F9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板载 QMI8658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B445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需外挂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B445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需外挂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880" b="1" i="0">
                          <a:solidFill>
                            <a:srgbClr val="1421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720p 高分辨率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B445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480×480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0E9F9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720×720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0E9F9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720×720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880" b="1" i="0">
                          <a:solidFill>
                            <a:srgbClr val="1421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桌面部署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0E9F9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USB-C 5V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0E9F9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USB-C 5V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B445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底板 DC 6–30V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880" b="1" i="0">
                          <a:solidFill>
                            <a:srgbClr val="1421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有线网络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B445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仅 Wi-Fi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B445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仅 Wi-Fi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0E9F9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RJ45 百兆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880" b="1" i="0">
                          <a:solidFill>
                            <a:srgbClr val="1421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6–8 周试点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0E9F9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低风险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E8A3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 UI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B445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新板级</a:t>
                      </a:r>
                    </a:p>
                  </a:txBody>
                  <a:tcPr marL="91440" marR="54864" marT="18288" marB="18288" anchor="ctr">
                    <a:solidFill>
                      <a:srgbClr val="EFF3F7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880" b="1" i="0">
                          <a:solidFill>
                            <a:srgbClr val="1421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后续加摄像头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B445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 CSI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0E9F9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MIPI CSI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80" b="1" i="0">
                          <a:solidFill>
                            <a:srgbClr val="B445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 </a:t>
                      </a:r>
                      <a:r>
                        <a:rPr sz="880" b="0" i="0">
                          <a:solidFill>
                            <a:srgbClr val="5B6B7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未装配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577840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结论：S3-4B 原生满足 6 项、P4-4B 5 项；P4 赢在 720p 与摄像头，S3 赢在 IMU、板级与试点周期。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加权评分：算力不是决定项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内部相对评分；去掉电池约束后，P4 的短板只剩 IMU 与交付，而不是产品能力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威思客 · 桌面 AI 助理 / 电子工牌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654710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内部讨论稿 ·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471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170078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1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产品匹配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1901952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权重 35%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9936" y="170078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1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交付风险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9936" y="1901952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权重 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1264" y="170078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1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成本交期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1264" y="1901952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权重 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170078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1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语音体验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1901952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权重 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70078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1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扩展性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901952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权重 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85248" y="1773936"/>
            <a:ext cx="17007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加权总分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35915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S3-4B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78608" y="2212848"/>
            <a:ext cx="138988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670048" y="230428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8.5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70048" y="2651760"/>
            <a:ext cx="1170432" cy="54864"/>
          </a:xfrm>
          <a:prstGeom prst="roundRect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2670048" y="2651760"/>
            <a:ext cx="994867" cy="54864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4059936" y="2212848"/>
            <a:ext cx="138988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151376" y="230428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9.0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51376" y="2651760"/>
            <a:ext cx="1170432" cy="54864"/>
          </a:xfrm>
          <a:prstGeom prst="roundRect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151376" y="2651760"/>
            <a:ext cx="1053388" cy="54864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5541264" y="2212848"/>
            <a:ext cx="138988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632704" y="230428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9.0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32704" y="2651760"/>
            <a:ext cx="1170432" cy="54864"/>
          </a:xfrm>
          <a:prstGeom prst="roundRect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5632704" y="2651760"/>
            <a:ext cx="1053388" cy="54864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7022592" y="2212848"/>
            <a:ext cx="138988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14032" y="230428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8A33D"/>
                </a:solidFill>
                <a:latin typeface="PingFang SC"/>
                <a:ea typeface="PingFang SC"/>
                <a:cs typeface="PingFang SC"/>
              </a:rPr>
              <a:t>7.5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14032" y="2651760"/>
            <a:ext cx="1170432" cy="54864"/>
          </a:xfrm>
          <a:prstGeom prst="roundRect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7114032" y="2651760"/>
            <a:ext cx="877824" cy="5486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503920" y="2212848"/>
            <a:ext cx="138988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595360" y="230428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B4453A"/>
                </a:solidFill>
                <a:latin typeface="PingFang SC"/>
                <a:ea typeface="PingFang SC"/>
                <a:cs typeface="PingFang SC"/>
              </a:rPr>
              <a:t>5.0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95360" y="2651760"/>
            <a:ext cx="1170432" cy="54864"/>
          </a:xfrm>
          <a:prstGeom prst="roundRect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8595360" y="2651760"/>
            <a:ext cx="585216" cy="54864"/>
          </a:xfrm>
          <a:prstGeom prst="roundRect">
            <a:avLst>
              <a:gd name="adj" fmla="val 50000"/>
            </a:avLst>
          </a:prstGeom>
          <a:solidFill>
            <a:srgbClr val="B4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9985248" y="2212848"/>
            <a:ext cx="1700784" cy="640080"/>
          </a:xfrm>
          <a:prstGeom prst="roundRect">
            <a:avLst>
              <a:gd name="adj" fmla="val 6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985248" y="2322576"/>
            <a:ext cx="17007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200400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P4-4B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78608" y="3054096"/>
            <a:ext cx="138988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2670048" y="3145536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8.0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70048" y="3493008"/>
            <a:ext cx="1170432" cy="54864"/>
          </a:xfrm>
          <a:prstGeom prst="roundRect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2670048" y="3493008"/>
            <a:ext cx="936345" cy="54864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4059936" y="3054096"/>
            <a:ext cx="138988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151376" y="3145536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8A33D"/>
                </a:solidFill>
                <a:latin typeface="PingFang SC"/>
                <a:ea typeface="PingFang SC"/>
                <a:cs typeface="PingFang SC"/>
              </a:rPr>
              <a:t>7.0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51376" y="3493008"/>
            <a:ext cx="1170432" cy="54864"/>
          </a:xfrm>
          <a:prstGeom prst="roundRect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4151376" y="3493008"/>
            <a:ext cx="819302" cy="5486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5541264" y="3054096"/>
            <a:ext cx="138988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632704" y="3145536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8A33D"/>
                </a:solidFill>
                <a:latin typeface="PingFang SC"/>
                <a:ea typeface="PingFang SC"/>
                <a:cs typeface="PingFang SC"/>
              </a:rPr>
              <a:t>6.5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32704" y="3493008"/>
            <a:ext cx="1170432" cy="54864"/>
          </a:xfrm>
          <a:prstGeom prst="roundRect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5632704" y="3493008"/>
            <a:ext cx="760780" cy="5486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7022592" y="3054096"/>
            <a:ext cx="138988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7114032" y="3145536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8.5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114032" y="3493008"/>
            <a:ext cx="1170432" cy="54864"/>
          </a:xfrm>
          <a:prstGeom prst="roundRect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7114032" y="3493008"/>
            <a:ext cx="994867" cy="54864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ounded Rectangle 59"/>
          <p:cNvSpPr/>
          <p:nvPr/>
        </p:nvSpPr>
        <p:spPr>
          <a:xfrm>
            <a:off x="8503920" y="3054096"/>
            <a:ext cx="138988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595360" y="3145536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8.0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95360" y="3493008"/>
            <a:ext cx="1170432" cy="54864"/>
          </a:xfrm>
          <a:prstGeom prst="roundRect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8595360" y="3493008"/>
            <a:ext cx="936345" cy="54864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9985248" y="3054096"/>
            <a:ext cx="1700784" cy="640080"/>
          </a:xfrm>
          <a:prstGeom prst="roundRect">
            <a:avLst>
              <a:gd name="adj" fmla="val 6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9985248" y="3163824"/>
            <a:ext cx="17007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7.6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4041648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P4-86Panel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578608" y="3895344"/>
            <a:ext cx="138988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2670048" y="3986783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B4453A"/>
                </a:solidFill>
                <a:latin typeface="PingFang SC"/>
                <a:ea typeface="PingFang SC"/>
                <a:cs typeface="PingFang SC"/>
              </a:rPr>
              <a:t>5.5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670048" y="4334256"/>
            <a:ext cx="1170432" cy="54864"/>
          </a:xfrm>
          <a:prstGeom prst="roundRect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2670048" y="4334256"/>
            <a:ext cx="643737" cy="54864"/>
          </a:xfrm>
          <a:prstGeom prst="roundRect">
            <a:avLst>
              <a:gd name="adj" fmla="val 50000"/>
            </a:avLst>
          </a:prstGeom>
          <a:solidFill>
            <a:srgbClr val="B4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ounded Rectangle 70"/>
          <p:cNvSpPr/>
          <p:nvPr/>
        </p:nvSpPr>
        <p:spPr>
          <a:xfrm>
            <a:off x="4059936" y="3895344"/>
            <a:ext cx="138988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4151376" y="3986783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B4453A"/>
                </a:solidFill>
                <a:latin typeface="PingFang SC"/>
                <a:ea typeface="PingFang SC"/>
                <a:cs typeface="PingFang SC"/>
              </a:rPr>
              <a:t>5.0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51376" y="4334256"/>
            <a:ext cx="1170432" cy="54864"/>
          </a:xfrm>
          <a:prstGeom prst="roundRect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ounded Rectangle 73"/>
          <p:cNvSpPr/>
          <p:nvPr/>
        </p:nvSpPr>
        <p:spPr>
          <a:xfrm>
            <a:off x="4151376" y="4334256"/>
            <a:ext cx="585216" cy="54864"/>
          </a:xfrm>
          <a:prstGeom prst="roundRect">
            <a:avLst>
              <a:gd name="adj" fmla="val 50000"/>
            </a:avLst>
          </a:prstGeom>
          <a:solidFill>
            <a:srgbClr val="B4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ounded Rectangle 74"/>
          <p:cNvSpPr/>
          <p:nvPr/>
        </p:nvSpPr>
        <p:spPr>
          <a:xfrm>
            <a:off x="5541264" y="3895344"/>
            <a:ext cx="138988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5632704" y="3986783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B4453A"/>
                </a:solidFill>
                <a:latin typeface="PingFang SC"/>
                <a:ea typeface="PingFang SC"/>
                <a:cs typeface="PingFang SC"/>
              </a:rPr>
              <a:t>5.0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632704" y="4334256"/>
            <a:ext cx="1170432" cy="54864"/>
          </a:xfrm>
          <a:prstGeom prst="roundRect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ounded Rectangle 77"/>
          <p:cNvSpPr/>
          <p:nvPr/>
        </p:nvSpPr>
        <p:spPr>
          <a:xfrm>
            <a:off x="5632704" y="4334256"/>
            <a:ext cx="585216" cy="54864"/>
          </a:xfrm>
          <a:prstGeom prst="roundRect">
            <a:avLst>
              <a:gd name="adj" fmla="val 50000"/>
            </a:avLst>
          </a:prstGeom>
          <a:solidFill>
            <a:srgbClr val="B4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7022592" y="3895344"/>
            <a:ext cx="138988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114032" y="3986783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8.5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114032" y="4334256"/>
            <a:ext cx="1170432" cy="54864"/>
          </a:xfrm>
          <a:prstGeom prst="roundRect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ounded Rectangle 81"/>
          <p:cNvSpPr/>
          <p:nvPr/>
        </p:nvSpPr>
        <p:spPr>
          <a:xfrm>
            <a:off x="7114032" y="4334256"/>
            <a:ext cx="994867" cy="54864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8503920" y="3895344"/>
            <a:ext cx="1389888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8595360" y="3986783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E8A33D"/>
                </a:solidFill>
                <a:latin typeface="PingFang SC"/>
                <a:ea typeface="PingFang SC"/>
                <a:cs typeface="PingFang SC"/>
              </a:rPr>
              <a:t>6.0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595360" y="4334256"/>
            <a:ext cx="1170432" cy="54864"/>
          </a:xfrm>
          <a:prstGeom prst="roundRect">
            <a:avLst>
              <a:gd name="adj" fmla="val 50000"/>
            </a:avLst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ounded Rectangle 85"/>
          <p:cNvSpPr/>
          <p:nvPr/>
        </p:nvSpPr>
        <p:spPr>
          <a:xfrm>
            <a:off x="8595360" y="4334256"/>
            <a:ext cx="702259" cy="5486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ounded Rectangle 86"/>
          <p:cNvSpPr/>
          <p:nvPr/>
        </p:nvSpPr>
        <p:spPr>
          <a:xfrm>
            <a:off x="9985248" y="3895344"/>
            <a:ext cx="1700784" cy="640080"/>
          </a:xfrm>
          <a:prstGeom prst="roundRect">
            <a:avLst>
              <a:gd name="adj" fmla="val 6000"/>
            </a:avLst>
          </a:prstGeom>
          <a:solidFill>
            <a:srgbClr val="B4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9985248" y="4005072"/>
            <a:ext cx="17007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5.8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5074920"/>
            <a:ext cx="11055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权重按一期试点阶段设定；量产阶段的成本与可运维性权重会上升。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5440680"/>
            <a:ext cx="11055096" cy="12801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566928" y="5577840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60" b="0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P4 在 720p、双麦与扩展上得分更高；S3 领先的是交付确定性。0.6 分的差距意味着：
屏幕规格一旦签成 720×720，结论就会翻转。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HIDDEN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选 86 Panel，会多出六件事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这些工作与「桌面 AI 工牌」的产品价值无关，却会吃掉 6–8 周的试点窗口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威思客 · 桌面 AI 助理 / 电子工牌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654710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内部讨论稿 ·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471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64208"/>
            <a:ext cx="5449824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178308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02536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固件零支持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313432"/>
            <a:ext cx="5029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网口 / RS485 / 继电器 / DC 供电在本仓库没有任何板级代码，需新建板级、分区与固件身份。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664208"/>
            <a:ext cx="5449824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45936" y="178308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002536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双芯片运维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313432"/>
            <a:ext cx="5029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P4 + C6 两颗芯片、两套固件、两条 OTA 通道；SDIO 链路异常要跨芯片定位。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145536"/>
            <a:ext cx="5449824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8096" y="326440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483864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配网退化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794760"/>
            <a:ext cx="5029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P4 不能用 BluFi（构建脚本已排除），只能热点配网；现场体验不如 S3。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3145536"/>
            <a:ext cx="5449824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45936" y="326440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3483864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硅片与供应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3794760"/>
            <a:ext cx="5029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P4 分 Rev&lt;3 / Rev≥3，产物名不同；国内商城 4B 当前缺货，采购要锁版本与交期。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626864"/>
            <a:ext cx="5449824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474573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96519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UI 重做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5276088"/>
            <a:ext cx="5029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720×720 的布局、字阶、手势全部重来，480×480 的设计稿与验收标准作废。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4626864"/>
            <a:ext cx="5449824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45936" y="474573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496519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补齐硬件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5276088"/>
            <a:ext cx="5029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外挂 IMU、桌面结构件与 DC 走线——把算力优势换成了集成工作量。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053328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反过来说：如果目标改成会议室门口屏（网口 + RS485 控灯 + 继电器），这六件事就都变成了产品价值。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WHEN P4 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什么时候该换 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四个信号出现任意两个，再启动 P4 评估；一期不被阻塞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威思客 · 桌面 AI 助理 / 电子工牌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654710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内部讨论稿 ·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471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64208"/>
            <a:ext cx="553212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6384" y="1810512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换 P4 的四个信号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212848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▪  动效 / 视频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468880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工牌 UI 需要 60fps 动效、视频或大图轮播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081528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▪  本机视觉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337560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要做人脸、工位占用等设备端识别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950208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▪  有线与物联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206240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企业要求有线接入，或设备要控灯 / 投影 / 门禁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818888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▪  更大屏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5074920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需要 720×720 以上的一体机形态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358384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若要摄像头或更大屏，选 31416（带 MIPI CSI）而不是 86 Panel。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1664208"/>
            <a:ext cx="5285232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4" y="1810512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建议路线：S3 试点 + P4 并行 PoC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47104" y="22768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592824" y="2423160"/>
            <a:ext cx="12801" cy="8046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784848" y="2231136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一期 · 现在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2487168"/>
            <a:ext cx="45262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S3-4B 30–50 台试点：480×480 工牌 UI / 手势 / IMU / RTC 对齐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47104" y="32461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592824" y="3392424"/>
            <a:ext cx="12801" cy="8046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784848" y="3200400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并行 · 1–2 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3456432"/>
            <a:ext cx="45262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P4-4B PoC：只验 720×720 动效、C6 联网、语音时延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47104" y="421538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784848" y="4169664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第二产品线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4425696"/>
            <a:ext cx="45262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86Panel 升级为会议室门口屏：网口 + RS485 + 继电器，单独立项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47104" y="5230368"/>
            <a:ext cx="4846320" cy="402336"/>
          </a:xfrm>
          <a:prstGeom prst="roundRect">
            <a:avLst>
              <a:gd name="adj" fmla="val 10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675120" y="530352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判据：四个信号命中两条，或 720p / 有线 / 摄像头已进一期规格。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989320"/>
            <a:ext cx="11055096" cy="12801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612648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换 P4 只重做 BSP 与显示层；控制通道、MCP、协议与板级解耦，迁移风险可控。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决策请求与验收清单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三件事需要拍板；六项验收必须在试点启动前过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威思客 · 桌面 AI 助理 / 电子工牌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654710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内部讨论稿 ·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471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64208"/>
            <a:ext cx="544068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6384" y="181051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试点验收（真机）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2249424"/>
            <a:ext cx="128016" cy="128016"/>
          </a:xfrm>
          <a:prstGeom prst="rect">
            <a:avLst/>
          </a:prstGeom>
          <a:noFill/>
          <a:ln w="11430">
            <a:solidFill>
              <a:srgbClr val="0E9F9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212848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 i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480×480 工牌 UI 帧率与 1m 可读性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2779776"/>
            <a:ext cx="128016" cy="128016"/>
          </a:xfrm>
          <a:prstGeom prst="rect">
            <a:avLst/>
          </a:prstGeom>
          <a:noFill/>
          <a:ln w="11430">
            <a:solidFill>
              <a:srgbClr val="0E9F9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2743200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 i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语音往返时延与「你好，小威」唤醒率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3310128"/>
            <a:ext cx="128016" cy="128016"/>
          </a:xfrm>
          <a:prstGeom prst="rect">
            <a:avLst/>
          </a:prstGeom>
          <a:noFill/>
          <a:ln w="11430">
            <a:solidFill>
              <a:srgbClr val="0E9F9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24128" y="3273552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 i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会议室噪声下的 AEC 识别率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3840480"/>
            <a:ext cx="128016" cy="128016"/>
          </a:xfrm>
          <a:prstGeom prst="rect">
            <a:avLst/>
          </a:prstGeom>
          <a:noFill/>
          <a:ln w="11430">
            <a:solidFill>
              <a:srgbClr val="0E9F9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3803904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 i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IMU 在场判定准确率与误触发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" y="4370832"/>
            <a:ext cx="128016" cy="128016"/>
          </a:xfrm>
          <a:prstGeom prst="rect">
            <a:avLst/>
          </a:prstGeom>
          <a:noFill/>
          <a:ln w="11430">
            <a:solidFill>
              <a:srgbClr val="0E9F9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24128" y="4334256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 i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断电重启恢复时间与看门狗复位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" y="4901184"/>
            <a:ext cx="128016" cy="128016"/>
          </a:xfrm>
          <a:prstGeom prst="rect">
            <a:avLst/>
          </a:prstGeom>
          <a:noFill/>
          <a:ln w="11430">
            <a:solidFill>
              <a:srgbClr val="0E9F9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24128" y="4864608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 i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72h 在线率与断线重连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413248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 i="0">
                <a:solidFill>
                  <a:srgbClr val="8A99A8"/>
                </a:solidFill>
                <a:latin typeface="PingFang SC"/>
                <a:ea typeface="PingFang SC"/>
                <a:cs typeface="PingFang SC"/>
              </a:rPr>
              <a:t>六项全过，再扩到第二个楼层。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1664208"/>
            <a:ext cx="5285232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47104" y="1810512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决策请求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21945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217627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批准 S3-4B 试点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468879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9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30–50 台、6–8 周、1–2 个楼层，固定 5V 供电，按 480×480 方案推进。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31272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310896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确认 86Panel 为第二产品线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3401568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9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会议室门口屏单独立项，不与桌面工牌共用固件身份。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4" y="4059935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9F9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404164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预留 P4 切换条件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4334255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9" b="0" i="0">
                <a:solidFill>
                  <a:srgbClr val="5B6B7C"/>
                </a:solidFill>
                <a:latin typeface="PingFang SC"/>
                <a:ea typeface="PingFang SC"/>
                <a:cs typeface="PingFang SC"/>
              </a:rPr>
              <a:t>720p / 双麦 / 摄像头进一期，就直接上 P4-4B（31416），不做两代硬件。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47104" y="5047488"/>
            <a:ext cx="4846320" cy="475488"/>
          </a:xfrm>
          <a:prstGeom prst="roundRect">
            <a:avLst>
              <a:gd name="adj" fmla="val 10000"/>
            </a:avLst>
          </a:prstGeom>
          <a:solidFill>
            <a:srgbClr val="F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675120" y="5120640"/>
            <a:ext cx="4617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8A5A14"/>
                </a:solidFill>
                <a:latin typeface="PingFang SC"/>
                <a:ea typeface="PingFang SC"/>
                <a:cs typeface="PingFang SC"/>
              </a:rPr>
              <a:t>若 720p 已签样：直接 P4-4B，并先确认交期与 IMU 方案。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870448"/>
            <a:ext cx="11055096" cy="12801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66928" y="60167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1" i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一句话：480p 能签样就用 S3-4B；要 720p 就别做两代硬件，直接 P4-4B。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