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开场：目标硬件是 4B 4 英寸方形屏，唤醒词“你好，小威”；当前用 3.49 做固件测试。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外观按 4B：86.5×86.5×14 mm，4 英寸 480×480；屏幕 UI 是效果示意，不是最终固件截图。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一页讲清三类能力：电子工牌、AI 助理、两类企业连接；唤醒词“你好，小威”是统一品牌入口。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重点讲双通道：小智云负责智能，企业服务端负责业务和控制；小智云可 SaaS 或私有化。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部署路径：SaaS 试点 → 私有化 PoC → 平台合并；合并是部署/组织合并，不是把语音能力塞进业务单体。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三条链路：消息推送、语音问日程、签到/Agent。一期先做推送、工牌和签到。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评估要坦诚：技术可行，但安全、运维、MCP 生态是前置条件；建议先试点。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路线分三步，6–8 周 MVP，指标清晰；私有化/合并放在二期/三期。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决策请求：预算/场地、接口人、产品边界与部署模式；未来两周先做 PoC 和 Demo。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27648"/>
            <a:ext cx="12191695" cy="2286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35D0BA"/>
                </a:solidFill>
                <a:latin typeface="PingFang SC"/>
              </a:rPr>
              <a:t>威思客 · 桌面智能终端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768096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FFFFF"/>
                </a:solidFill>
                <a:latin typeface="PingFang SC"/>
              </a:rPr>
              <a:t>把 AI 助理</a:t>
            </a:r>
          </a:p>
          <a:p>
            <a:pPr algn="l">
              <a:lnSpc>
                <a:spcPct val="100000"/>
              </a:lnSpc>
            </a:pPr>
            <a:r>
              <a:rPr sz="4200" b="1">
                <a:solidFill>
                  <a:srgbClr val="FFFFFF"/>
                </a:solidFill>
                <a:latin typeface="PingFang SC"/>
              </a:rPr>
              <a:t>放到桌面上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46120"/>
            <a:ext cx="74980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D6E4F0"/>
                </a:solidFill>
                <a:latin typeface="PingFang SC"/>
              </a:rPr>
              <a:t>威思客桌面 AI 助理 × 桌面电子工牌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03320"/>
            <a:ext cx="74980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B8CCDC"/>
                </a:solidFill>
                <a:latin typeface="PingFang SC"/>
              </a:rPr>
              <a:t>目标硬件：Waveshare ESP32-S3-Touch-LCD-4B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05072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7F98AE"/>
                </a:solidFill>
                <a:latin typeface="PingFang SC"/>
              </a:rPr>
              <a:t>4 英寸方形屏 · 480×480 · 电池 / IMU / RTC / 双麦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297680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35D0BA"/>
                </a:solidFill>
                <a:latin typeface="PingFang SC"/>
              </a:rPr>
              <a:t>唤醒词：你好，小威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800600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35D0BA"/>
                </a:solidFill>
                <a:latin typeface="PingFang SC"/>
              </a:rPr>
              <a:t>会议日程 · 工位签到 · 桌面智能体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9893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7F98AE"/>
                </a:solidFill>
                <a:latin typeface="PingFang SC"/>
              </a:rPr>
              <a:t>内部讨论稿 · 2026-10-25</a:t>
            </a:r>
          </a:p>
        </p:txBody>
      </p:sp>
      <p:pic>
        <p:nvPicPr>
          <p:cNvPr id="11" name="Picture 10" descr="virsical-4b-fr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786384"/>
            <a:ext cx="4160520" cy="416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75320" y="5029200"/>
            <a:ext cx="3429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30" b="0">
                <a:solidFill>
                  <a:srgbClr val="9FB6C9"/>
                </a:solidFill>
                <a:latin typeface="PingFang SC"/>
              </a:rPr>
              <a:t>4" 480×480  ·  86.5 × 86.5 × 14 mm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5266944"/>
            <a:ext cx="3429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780" b="0">
                <a:solidFill>
                  <a:srgbClr val="7F98AE"/>
                </a:solidFill>
                <a:latin typeface="PingFang SC"/>
              </a:rPr>
              <a:t>ESP32-S3-Touch-LCD-4B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0E9F9A"/>
                </a:solidFill>
                <a:latin typeface="PingFang SC"/>
              </a:rPr>
              <a:t>INDUSTRIAL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B1F3A"/>
                </a:solidFill>
                <a:latin typeface="PingFang SC"/>
              </a:rPr>
              <a:t>目标外观：86.5 mm 方形桌面工牌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B6B7C"/>
                </a:solidFill>
                <a:latin typeface="PingFang SC"/>
              </a:rPr>
              <a:t>外观按 ESP32-S3-Touch-LCD-4B；4 英寸 480×480，机身 86.5×86.5×14 mm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8A99A8"/>
                </a:solidFill>
                <a:latin typeface="PingFang SC"/>
              </a:rPr>
              <a:t>威思客 · 桌面 AI 助理 / 电子工牌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55480" y="6528816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8A99A8"/>
                </a:solidFill>
                <a:latin typeface="PingFang SC"/>
              </a:rPr>
              <a:t>内部讨论稿 · 2026.10</a:t>
            </a:r>
          </a:p>
        </p:txBody>
      </p:sp>
      <p:pic>
        <p:nvPicPr>
          <p:cNvPr id="8" name="Picture 7" descr="virsical-4b-fr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27632"/>
            <a:ext cx="4297680" cy="42976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919472" y="1627632"/>
            <a:ext cx="393192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sp32-s3-touch-lcd-4b-dimension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700784"/>
            <a:ext cx="3675887" cy="40325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98280" y="1426464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>
                <a:solidFill>
                  <a:srgbClr val="0E9F9A"/>
                </a:solidFill>
                <a:latin typeface="PingFang SC"/>
              </a:rPr>
              <a:t>TARGET DEVICE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1700784"/>
            <a:ext cx="2743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0B1F3A"/>
                </a:solidFill>
                <a:latin typeface="PingFang SC"/>
              </a:rPr>
              <a:t>86.5 × 86.5 mm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048256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B6B7C"/>
                </a:solidFill>
                <a:latin typeface="PingFang SC"/>
              </a:rPr>
              <a:t>14 mm 机身厚度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98280" y="2377440"/>
            <a:ext cx="2606040" cy="10972"/>
          </a:xfrm>
          <a:prstGeom prst="rect">
            <a:avLst/>
          </a:prstGeom>
          <a:solidFill>
            <a:srgbClr val="D8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2505456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4213D"/>
                </a:solidFill>
                <a:latin typeface="PingFang SC"/>
              </a:rPr>
              <a:t>4.0" / 480×480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77977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80" b="0">
                <a:solidFill>
                  <a:srgbClr val="5B6B7C"/>
                </a:solidFill>
                <a:latin typeface="PingFang SC"/>
              </a:rPr>
              <a:t>65K 色 · GT911 触控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301752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80" b="0">
                <a:solidFill>
                  <a:srgbClr val="5B6B7C"/>
                </a:solidFill>
                <a:latin typeface="PingFang SC"/>
              </a:rPr>
              <a:t>71.93 × 71.93 mm 显示区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3346704"/>
            <a:ext cx="2606040" cy="10972"/>
          </a:xfrm>
          <a:prstGeom prst="rect">
            <a:avLst/>
          </a:prstGeom>
          <a:solidFill>
            <a:srgbClr val="D8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347472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60" b="0">
                <a:solidFill>
                  <a:srgbClr val="5B6B7C"/>
                </a:solidFill>
                <a:latin typeface="PingFang SC"/>
              </a:rPr>
              <a:t>侧边：电源 / 复位 / 双 USB-C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373075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60" b="0">
                <a:solidFill>
                  <a:srgbClr val="5B6B7C"/>
                </a:solidFill>
                <a:latin typeface="PingFang SC"/>
              </a:rPr>
              <a:t>背面：86 盒安装接口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3986784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60" b="0">
                <a:solidFill>
                  <a:srgbClr val="5B6B7C"/>
                </a:solidFill>
                <a:latin typeface="PingFang SC"/>
              </a:rPr>
              <a:t>白色机身 · 黑色前面板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99632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5B6B7C"/>
                </a:solidFill>
                <a:latin typeface="PingFang SC"/>
              </a:rPr>
              <a:t>外观与尺寸按官方 4B；屏幕 UI 为威思客效果示意，非最终固件截图。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95760" y="6528816"/>
            <a:ext cx="228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8A99A8"/>
                </a:solidFill>
                <a:latin typeface="PingFang S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0E9F9A"/>
                </a:solidFill>
                <a:latin typeface="PingFang SC"/>
              </a:rPr>
              <a:t>ONE DESK, THREE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B1F3A"/>
                </a:solidFill>
                <a:latin typeface="PingFang SC"/>
              </a:rPr>
              <a:t>一个桌面入口，三类企业能力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8A99A8"/>
                </a:solidFill>
                <a:latin typeface="PingFang SC"/>
              </a:rPr>
              <a:t>威思客 · 桌面 AI 助理 / 电子工牌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55480" y="6528816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8A99A8"/>
                </a:solidFill>
                <a:latin typeface="PingFang SC"/>
              </a:rPr>
              <a:t>内部讨论稿 · 2026.10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72768"/>
            <a:ext cx="3493008" cy="33101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6384" y="1773936"/>
            <a:ext cx="493776" cy="493776"/>
          </a:xfrm>
          <a:prstGeom prst="roundRect">
            <a:avLst>
              <a:gd name="adj" fmla="val 18000"/>
            </a:avLst>
          </a:prstGeom>
          <a:solidFill>
            <a:srgbClr val="4A6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1810512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0B1F3A"/>
                </a:solidFill>
                <a:latin typeface="PingFang SC"/>
              </a:rPr>
              <a:t>电子工牌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487168"/>
            <a:ext cx="297180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5B6B7C"/>
                </a:solidFill>
                <a:latin typeface="PingFang SC"/>
              </a:rPr>
              <a:t>员工身份 · 会议日程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5B6B7C"/>
                </a:solidFill>
                <a:latin typeface="PingFang SC"/>
              </a:rPr>
              <a:t>工位与在场状态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5B6B7C"/>
                </a:solidFill>
                <a:latin typeface="PingFang SC"/>
              </a:rPr>
              <a:t>到岗签到 / 离岗签出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5B6B7C"/>
                </a:solidFill>
                <a:latin typeface="PingFang SC"/>
              </a:rPr>
              <a:t>下一场会议倒计时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449884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1">
                <a:solidFill>
                  <a:srgbClr val="4A6CF7"/>
                </a:solidFill>
                <a:latin typeface="PingFang SC"/>
              </a:rPr>
              <a:t>关键指标：到岗确认率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1572768"/>
            <a:ext cx="3493008" cy="33101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53712" y="1773936"/>
            <a:ext cx="493776" cy="493776"/>
          </a:xfrm>
          <a:prstGeom prst="roundRect">
            <a:avLst>
              <a:gd name="adj" fmla="val 18000"/>
            </a:avLst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57216" y="1810512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0B1F3A"/>
                </a:solidFill>
                <a:latin typeface="PingFang SC"/>
              </a:rPr>
              <a:t>桌面 AI 助理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487168"/>
            <a:ext cx="297180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5B6B7C"/>
                </a:solidFill>
                <a:latin typeface="PingFang SC"/>
              </a:rPr>
              <a:t>唤醒词：你好，小威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5B6B7C"/>
                </a:solidFill>
                <a:latin typeface="PingFang SC"/>
              </a:rPr>
              <a:t>免提语音对话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5B6B7C"/>
                </a:solidFill>
                <a:latin typeface="PingFang SC"/>
              </a:rPr>
              <a:t>日程 / 工位 / 会议问答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5B6B7C"/>
                </a:solidFill>
                <a:latin typeface="PingFang SC"/>
              </a:rPr>
              <a:t>会议提醒与日程播报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5B6B7C"/>
                </a:solidFill>
                <a:latin typeface="PingFang SC"/>
              </a:rPr>
              <a:t>Agent 智能体延伸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49884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1">
                <a:solidFill>
                  <a:srgbClr val="0E9F9A"/>
                </a:solidFill>
                <a:latin typeface="PingFang SC"/>
              </a:rPr>
              <a:t>关键指标：语音任务成功率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1572768"/>
            <a:ext cx="3493008" cy="33101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1773936"/>
            <a:ext cx="493776" cy="493776"/>
          </a:xfrm>
          <a:prstGeom prst="roundRect">
            <a:avLst>
              <a:gd name="adj" fmla="val 18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24544" y="1810512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0B1F3A"/>
                </a:solidFill>
                <a:latin typeface="PingFang SC"/>
              </a:rPr>
              <a:t>两类企业连接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2487168"/>
            <a:ext cx="297180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5B6B7C"/>
                </a:solidFill>
                <a:latin typeface="PingFang SC"/>
              </a:rPr>
              <a:t>威思客：身份/组织/日程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5B6B7C"/>
                </a:solidFill>
                <a:latin typeface="PingFang SC"/>
              </a:rPr>
              <a:t>会议 / 工位 / 考勤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5B6B7C"/>
                </a:solidFill>
                <a:latin typeface="PingFang SC"/>
              </a:rPr>
              <a:t>Agent：WorkBuddy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5B6B7C"/>
                </a:solidFill>
                <a:latin typeface="PingFang SC"/>
              </a:rPr>
              <a:t>豆包工作 / 千问 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449884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1">
                <a:solidFill>
                  <a:srgbClr val="E8A33D"/>
                </a:solidFill>
                <a:latin typeface="PingFang SC"/>
              </a:rPr>
              <a:t>关键指标：接口可用率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193792"/>
            <a:ext cx="10972800" cy="960120"/>
          </a:xfrm>
          <a:prstGeom prst="roundRect">
            <a:avLst>
              <a:gd name="adj" fmla="val 7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5358384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35D0BA"/>
                </a:solidFill>
                <a:latin typeface="PingFang SC"/>
              </a:rPr>
              <a:t>已有底座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55648" y="5330952"/>
            <a:ext cx="4160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FFFFFF"/>
                </a:solidFill>
                <a:latin typeface="PingFang SC"/>
              </a:rPr>
              <a:t>小智固件 · 第二路 MQTT · 设备 MCP · 4B/3.49 触屏/音频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5358384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E8A33D"/>
                </a:solidFill>
                <a:latin typeface="PingFang SC"/>
              </a:rPr>
              <a:t>需要新建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9168" y="5330952"/>
            <a:ext cx="4160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FFFFFF"/>
                </a:solidFill>
                <a:latin typeface="PingFang SC"/>
              </a:rPr>
              <a:t>企业服务端 · 威思客/Agent 适配 · 设备注册与运维 · 安全基线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291072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30" b="0">
                <a:solidFill>
                  <a:srgbClr val="5B6B7C"/>
                </a:solidFill>
                <a:latin typeface="PingFang SC"/>
              </a:rPr>
              <a:t>目标硬件：4B 4" 480×480 方形屏  ·  当前测试：3.49 172×640 条形屏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95760" y="6528816"/>
            <a:ext cx="228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8A99A8"/>
                </a:solidFill>
                <a:latin typeface="PingFang S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0E9F9A"/>
                </a:solidFill>
                <a:latin typeface="PingFang SC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B1F3A"/>
                </a:solidFill>
                <a:latin typeface="PingFang SC"/>
              </a:rPr>
              <a:t>系统架构：两类外部系统 + 企业服务端 + 桌面终端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B6B7C"/>
                </a:solidFill>
                <a:latin typeface="PingFang SC"/>
              </a:rPr>
              <a:t>威思客提供身份/组织/日程；Agent 提供智能体；小智云可 SaaS 或私有化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8A99A8"/>
                </a:solidFill>
                <a:latin typeface="PingFang SC"/>
              </a:rPr>
              <a:t>威思客 · 桌面 AI 助理 / 电子工牌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55480" y="6528816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8A99A8"/>
                </a:solidFill>
                <a:latin typeface="PingFang SC"/>
              </a:rPr>
              <a:t>内部讨论稿 · 2026.10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64208"/>
            <a:ext cx="5321808" cy="658368"/>
          </a:xfrm>
          <a:prstGeom prst="roundRect">
            <a:avLst>
              <a:gd name="adj" fmla="val 8000"/>
            </a:avLst>
          </a:prstGeom>
          <a:solidFill>
            <a:srgbClr val="FFF4E5"/>
          </a:solidFill>
          <a:ln w="1016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737360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14213D"/>
                </a:solidFill>
                <a:latin typeface="PingFang SC"/>
              </a:rPr>
              <a:t>威思客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965960"/>
            <a:ext cx="4937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5B6B7C"/>
                </a:solidFill>
                <a:latin typeface="PingFang SC"/>
              </a:rPr>
              <a:t>身份 · 组织 · 日程 · 会议 · 工位 · 签到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664208"/>
            <a:ext cx="5321808" cy="658368"/>
          </a:xfrm>
          <a:prstGeom prst="roundRect">
            <a:avLst>
              <a:gd name="adj" fmla="val 8000"/>
            </a:avLst>
          </a:prstGeom>
          <a:solidFill>
            <a:srgbClr val="FFF4E5"/>
          </a:solidFill>
          <a:ln w="1016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2783" y="1737360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14213D"/>
                </a:solidFill>
                <a:latin typeface="PingFang SC"/>
              </a:rPr>
              <a:t>Agent 平台（可插拔）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2783" y="1965960"/>
            <a:ext cx="4937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5B6B7C"/>
                </a:solidFill>
                <a:latin typeface="PingFang SC"/>
              </a:rPr>
              <a:t>WorkBuddy · 豆包工作 · 千问 Go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542032"/>
            <a:ext cx="10972800" cy="2212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5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633472"/>
            <a:ext cx="4754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B6E6B"/>
                </a:solidFill>
                <a:latin typeface="PingFang SC"/>
              </a:rPr>
              <a:t>威思客企业服务端（自建）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65176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5B6B7C"/>
                </a:solidFill>
                <a:latin typeface="PingFang SC"/>
              </a:rPr>
              <a:t>企业数据与设备之间的唯一网关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971800"/>
            <a:ext cx="2560320" cy="640080"/>
          </a:xfrm>
          <a:prstGeom prst="roundRect">
            <a:avLst>
              <a:gd name="adj" fmla="val 8000"/>
            </a:avLst>
          </a:prstGeom>
          <a:solidFill>
            <a:srgbClr val="E8F6F5"/>
          </a:solidFill>
          <a:ln w="10160">
            <a:solidFill>
              <a:srgbClr val="0E9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035808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60" b="1">
                <a:solidFill>
                  <a:srgbClr val="14213D"/>
                </a:solidFill>
                <a:latin typeface="PingFang SC"/>
              </a:rPr>
              <a:t>MQTT Broker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327355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20" b="0">
                <a:solidFill>
                  <a:srgbClr val="5B6B7C"/>
                </a:solidFill>
                <a:latin typeface="PingFang SC"/>
              </a:rPr>
              <a:t>TLS · 设备证书 · ACL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2971800"/>
            <a:ext cx="2560320" cy="640080"/>
          </a:xfrm>
          <a:prstGeom prst="roundRect">
            <a:avLst>
              <a:gd name="adj" fmla="val 8000"/>
            </a:avLst>
          </a:prstGeom>
          <a:solidFill>
            <a:srgbClr val="E8F6F5"/>
          </a:solidFill>
          <a:ln w="10160">
            <a:solidFill>
              <a:srgbClr val="0E9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3035808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60" b="1">
                <a:solidFill>
                  <a:srgbClr val="14213D"/>
                </a:solidFill>
                <a:latin typeface="PingFang SC"/>
              </a:rPr>
              <a:t>设备注册 / 影子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27355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20" b="0">
                <a:solidFill>
                  <a:srgbClr val="5B6B7C"/>
                </a:solidFill>
                <a:latin typeface="PingFang SC"/>
              </a:rPr>
              <a:t>身份 · 状态 · 离线补偿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2971800"/>
            <a:ext cx="2560320" cy="640080"/>
          </a:xfrm>
          <a:prstGeom prst="roundRect">
            <a:avLst>
              <a:gd name="adj" fmla="val 8000"/>
            </a:avLst>
          </a:prstGeom>
          <a:solidFill>
            <a:srgbClr val="E8F6F5"/>
          </a:solidFill>
          <a:ln w="10160">
            <a:solidFill>
              <a:srgbClr val="0E9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1072" y="3035808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60" b="1">
                <a:solidFill>
                  <a:srgbClr val="14213D"/>
                </a:solidFill>
                <a:latin typeface="PingFang SC"/>
              </a:rPr>
              <a:t>命令 / 事件服务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327355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20" b="0">
                <a:solidFill>
                  <a:srgbClr val="5B6B7C"/>
                </a:solidFill>
                <a:latin typeface="PingFang SC"/>
              </a:rPr>
              <a:t>cmd · reply · event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24544" y="2971800"/>
            <a:ext cx="2560320" cy="640080"/>
          </a:xfrm>
          <a:prstGeom prst="roundRect">
            <a:avLst>
              <a:gd name="adj" fmla="val 8000"/>
            </a:avLst>
          </a:prstGeom>
          <a:solidFill>
            <a:srgbClr val="E8F6F5"/>
          </a:solidFill>
          <a:ln w="10160">
            <a:solidFill>
              <a:srgbClr val="0E9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15984" y="3035808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60" b="1">
                <a:solidFill>
                  <a:srgbClr val="14213D"/>
                </a:solidFill>
                <a:latin typeface="PingFang SC"/>
              </a:rPr>
              <a:t>内容 / 通知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15984" y="327355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20" b="0">
                <a:solidFill>
                  <a:srgbClr val="5B6B7C"/>
                </a:solidFill>
                <a:latin typeface="PingFang SC"/>
              </a:rPr>
              <a:t>会议卡片 · 图片 · 音频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3758184"/>
            <a:ext cx="2560320" cy="640080"/>
          </a:xfrm>
          <a:prstGeom prst="roundRect">
            <a:avLst>
              <a:gd name="adj" fmla="val 8000"/>
            </a:avLst>
          </a:prstGeom>
          <a:solidFill>
            <a:srgbClr val="E8F6F5"/>
          </a:solidFill>
          <a:ln w="10160">
            <a:solidFill>
              <a:srgbClr val="0E9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7" y="3822192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60" b="1">
                <a:solidFill>
                  <a:srgbClr val="14213D"/>
                </a:solidFill>
                <a:latin typeface="PingFang SC"/>
              </a:rPr>
              <a:t>威思客适配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7" y="4059936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20" b="0">
                <a:solidFill>
                  <a:srgbClr val="5B6B7C"/>
                </a:solidFill>
                <a:latin typeface="PingFang SC"/>
              </a:rPr>
              <a:t>REST / Webhook / 幂等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74720" y="3758184"/>
            <a:ext cx="2560320" cy="640080"/>
          </a:xfrm>
          <a:prstGeom prst="roundRect">
            <a:avLst>
              <a:gd name="adj" fmla="val 8000"/>
            </a:avLst>
          </a:prstGeom>
          <a:solidFill>
            <a:srgbClr val="E8F6F5"/>
          </a:solidFill>
          <a:ln w="10160">
            <a:solidFill>
              <a:srgbClr val="0E9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0" y="3822192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60" b="1">
                <a:solidFill>
                  <a:srgbClr val="14213D"/>
                </a:solidFill>
                <a:latin typeface="PingFang SC"/>
              </a:rPr>
              <a:t>Agent 适配（可插拔）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4059936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20" b="0">
                <a:solidFill>
                  <a:srgbClr val="5B6B7C"/>
                </a:solidFill>
                <a:latin typeface="PingFang SC"/>
              </a:rPr>
              <a:t>OpenAPI / 回调 / 统一消息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9632" y="3758184"/>
            <a:ext cx="2560320" cy="640080"/>
          </a:xfrm>
          <a:prstGeom prst="roundRect">
            <a:avLst>
              <a:gd name="adj" fmla="val 8000"/>
            </a:avLst>
          </a:prstGeom>
          <a:solidFill>
            <a:srgbClr val="F3ECFF"/>
          </a:solidFill>
          <a:ln w="10160">
            <a:solidFill>
              <a:srgbClr val="7C5CE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1072" y="3822192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60" b="1">
                <a:solidFill>
                  <a:srgbClr val="14213D"/>
                </a:solidFill>
                <a:latin typeface="PingFang SC"/>
              </a:rPr>
              <a:t>业务编排 + MCP 工具桥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91072" y="4059936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20" b="0">
                <a:solidFill>
                  <a:srgbClr val="5B6B7C"/>
                </a:solidFill>
                <a:latin typeface="PingFang SC"/>
              </a:rPr>
              <a:t>日程 · 工位 · 签到 · 智能体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24544" y="3758184"/>
            <a:ext cx="2560320" cy="640080"/>
          </a:xfrm>
          <a:prstGeom prst="roundRect">
            <a:avLst>
              <a:gd name="adj" fmla="val 8000"/>
            </a:avLst>
          </a:prstGeom>
          <a:solidFill>
            <a:srgbClr val="E8F6F5"/>
          </a:solidFill>
          <a:ln w="10160">
            <a:solidFill>
              <a:srgbClr val="0E9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15984" y="3822192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60" b="1">
                <a:solidFill>
                  <a:srgbClr val="14213D"/>
                </a:solidFill>
                <a:latin typeface="PingFang SC"/>
              </a:rPr>
              <a:t>监控 / 审计 / 运营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15984" y="4059936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20" b="0">
                <a:solidFill>
                  <a:srgbClr val="5B6B7C"/>
                </a:solidFill>
                <a:latin typeface="PingFang SC"/>
              </a:rPr>
              <a:t>日志 · 指标 · 告警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218688" y="2322576"/>
            <a:ext cx="0" cy="219456"/>
          </a:xfrm>
          <a:prstGeom prst="line">
            <a:avLst/>
          </a:prstGeom>
          <a:ln w="15240">
            <a:solidFill>
              <a:srgbClr val="E8A33D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796528" y="2322576"/>
            <a:ext cx="0" cy="219456"/>
          </a:xfrm>
          <a:prstGeom prst="line">
            <a:avLst/>
          </a:prstGeom>
          <a:ln w="15240">
            <a:solidFill>
              <a:srgbClr val="E8A33D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566928" y="5047488"/>
            <a:ext cx="4709160" cy="1353312"/>
          </a:xfrm>
          <a:prstGeom prst="roundRect">
            <a:avLst>
              <a:gd name="adj" fmla="val 7000"/>
            </a:avLst>
          </a:prstGeom>
          <a:solidFill>
            <a:srgbClr val="EEF3FF"/>
          </a:solidFill>
          <a:ln w="12700">
            <a:solidFill>
              <a:srgbClr val="4A6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138928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4213D"/>
                </a:solidFill>
                <a:latin typeface="PingFang SC"/>
              </a:rPr>
              <a:t>桌面终端（目标 4B / 测试 3.49）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394960"/>
            <a:ext cx="4343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20" b="0">
                <a:solidFill>
                  <a:srgbClr val="5B6B7C"/>
                </a:solidFill>
                <a:latin typeface="PingFang SC"/>
              </a:rPr>
              <a:t>ESP32-S3 · 4" 480×480 方形屏 · 双麦/AEC · 2W 扬声器 · Wi-Fi/BLE · IMU · RTC · 电池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5632704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1">
                <a:solidFill>
                  <a:srgbClr val="4A6CF7"/>
                </a:solidFill>
                <a:latin typeface="PingFang SC"/>
              </a:rPr>
              <a:t>主协议 + Control MQTT + 设备 MCP + 电子工牌 UI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925312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40" b="0">
                <a:solidFill>
                  <a:srgbClr val="5B6B7C"/>
                </a:solidFill>
                <a:latin typeface="PingFang SC"/>
              </a:rPr>
              <a:t>触摸 / 按键 / 工牌 / 语音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406640" y="5047488"/>
            <a:ext cx="4133087" cy="1353312"/>
          </a:xfrm>
          <a:prstGeom prst="roundRect">
            <a:avLst>
              <a:gd name="adj" fmla="val 7000"/>
            </a:avLst>
          </a:prstGeom>
          <a:solidFill>
            <a:srgbClr val="F3ECFF"/>
          </a:solidFill>
          <a:ln w="12700">
            <a:solidFill>
              <a:srgbClr val="7C5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71231" y="513892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1">
                <a:solidFill>
                  <a:srgbClr val="14213D"/>
                </a:solidFill>
                <a:latin typeface="PingFang SC"/>
              </a:rPr>
              <a:t>小智云平台（SaaS / 私有化）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71231" y="5394960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80" b="0">
                <a:solidFill>
                  <a:srgbClr val="5B6B7C"/>
                </a:solidFill>
                <a:latin typeface="PingFang SC"/>
              </a:rPr>
              <a:t>ASR · LLM / Agent · TTS · OTA/激活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71231" y="5632704"/>
            <a:ext cx="37490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>
                <a:solidFill>
                  <a:srgbClr val="7C5CE5"/>
                </a:solidFill>
                <a:latin typeface="PingFang SC"/>
              </a:rPr>
              <a:t>MCP 工具调用：设备能力（音量/屏幕/状态）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71231" y="5888736"/>
            <a:ext cx="37490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20" b="0">
                <a:solidFill>
                  <a:srgbClr val="5B6B7C"/>
                </a:solidFill>
                <a:latin typeface="PingFang SC"/>
              </a:rPr>
              <a:t>业务问答需经“MCP 工具桥”扩展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71231" y="6126480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20" b="1">
                <a:solidFill>
                  <a:srgbClr val="7C5CE5"/>
                </a:solidFill>
                <a:latin typeface="PingFang SC"/>
              </a:rPr>
              <a:t>部署：SaaS → 私有化 → 合并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321808" y="5724144"/>
            <a:ext cx="2039112" cy="0"/>
          </a:xfrm>
          <a:prstGeom prst="line">
            <a:avLst/>
          </a:prstGeom>
          <a:ln w="22860">
            <a:solidFill>
              <a:srgbClr val="0E9F9A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650992" y="5504688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0E9F9A"/>
                </a:solidFill>
                <a:latin typeface="PingFang SC"/>
              </a:rPr>
              <a:t>主协议 / 音频 / MCP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965960" y="4754880"/>
            <a:ext cx="0" cy="292608"/>
          </a:xfrm>
          <a:prstGeom prst="line">
            <a:avLst/>
          </a:prstGeom>
          <a:ln w="22860">
            <a:solidFill>
              <a:srgbClr val="0B6E6B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103120" y="482803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1">
                <a:solidFill>
                  <a:srgbClr val="0B6E6B"/>
                </a:solidFill>
                <a:latin typeface="PingFang SC"/>
              </a:rPr>
              <a:t>Control MQTT · TLS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74920" y="6473952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>
                <a:solidFill>
                  <a:srgbClr val="5B6B7C"/>
                </a:solidFill>
                <a:latin typeface="PingFang SC"/>
              </a:rPr>
              <a:t>实线：一期可落地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20840" y="647395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1">
                <a:solidFill>
                  <a:srgbClr val="7C5CE5"/>
                </a:solidFill>
                <a:latin typeface="PingFang SC"/>
              </a:rPr>
              <a:t>虚线：二期 / 需平台能力验证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795760" y="6528816"/>
            <a:ext cx="228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8A99A8"/>
                </a:solidFill>
                <a:latin typeface="PingFang S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0E9F9A"/>
                </a:solidFill>
                <a:latin typeface="PingFang SC"/>
              </a:rP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B1F3A"/>
                </a:solidFill>
                <a:latin typeface="PingFang SC"/>
              </a:rPr>
              <a:t>部署路径：SaaS 试点 → 私有化 → 平台合并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B6B7C"/>
                </a:solidFill>
                <a:latin typeface="PingFang SC"/>
              </a:rPr>
              <a:t>唤醒词“你好，小威”保持不变；变化的是语音智能部署位置与数据边界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8A99A8"/>
                </a:solidFill>
                <a:latin typeface="PingFang SC"/>
              </a:rPr>
              <a:t>威思客 · 桌面 AI 助理 / 电子工牌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55480" y="6528816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8A99A8"/>
                </a:solidFill>
                <a:latin typeface="PingFang SC"/>
              </a:rPr>
              <a:t>内部讨论稿 · 2026.10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72768"/>
            <a:ext cx="3511296" cy="2697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572768"/>
            <a:ext cx="3511296" cy="91440"/>
          </a:xfrm>
          <a:prstGeom prst="roundRect">
            <a:avLst>
              <a:gd name="adj" fmla="val 4000"/>
            </a:avLst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8096" y="1773936"/>
            <a:ext cx="475488" cy="475488"/>
          </a:xfrm>
          <a:prstGeom prst="roundRect">
            <a:avLst>
              <a:gd name="adj" fmla="val 18000"/>
            </a:avLst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810512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B1F3A"/>
                </a:solidFill>
                <a:latin typeface="PingFang SC"/>
              </a:rPr>
              <a:t>SaaS 试点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340864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0E9F9A"/>
                </a:solidFill>
                <a:latin typeface="PingFang SC"/>
              </a:rPr>
              <a:t>0–6 个月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651760"/>
            <a:ext cx="306324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80" b="0">
                <a:solidFill>
                  <a:srgbClr val="5B6B7C"/>
                </a:solidFill>
                <a:latin typeface="PingFang SC"/>
              </a:rPr>
              <a:t>· 小智云公有云</a:t>
            </a:r>
          </a:p>
          <a:p>
            <a:pPr algn="l">
              <a:lnSpc>
                <a:spcPct val="140000"/>
              </a:lnSpc>
            </a:pPr>
            <a:r>
              <a:rPr sz="880" b="0">
                <a:solidFill>
                  <a:srgbClr val="5B6B7C"/>
                </a:solidFill>
                <a:latin typeface="PingFang SC"/>
              </a:rPr>
              <a:t>· 快速上线 / 低运维</a:t>
            </a:r>
          </a:p>
          <a:p>
            <a:pPr algn="l">
              <a:lnSpc>
                <a:spcPct val="140000"/>
              </a:lnSpc>
            </a:pPr>
            <a:r>
              <a:rPr sz="880" b="0">
                <a:solidFill>
                  <a:srgbClr val="5B6B7C"/>
                </a:solidFill>
                <a:latin typeface="PingFang SC"/>
              </a:rPr>
              <a:t>· 数据出企业</a:t>
            </a:r>
          </a:p>
          <a:p>
            <a:pPr algn="l">
              <a:lnSpc>
                <a:spcPct val="140000"/>
              </a:lnSpc>
            </a:pPr>
            <a:r>
              <a:rPr sz="880" b="0">
                <a:solidFill>
                  <a:srgbClr val="5B6B7C"/>
                </a:solidFill>
                <a:latin typeface="PingFang SC"/>
              </a:rPr>
              <a:t>· 30–50 台验证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33087" y="2971800"/>
            <a:ext cx="137161" cy="0"/>
          </a:xfrm>
          <a:prstGeom prst="line">
            <a:avLst/>
          </a:prstGeom>
          <a:ln w="15240">
            <a:solidFill>
              <a:srgbClr val="B8C6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315968" y="1572768"/>
            <a:ext cx="3511296" cy="2697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15968" y="1572768"/>
            <a:ext cx="3511296" cy="91440"/>
          </a:xfrm>
          <a:prstGeom prst="roundRect">
            <a:avLst>
              <a:gd name="adj" fmla="val 4000"/>
            </a:avLst>
          </a:prstGeom>
          <a:solidFill>
            <a:srgbClr val="4A6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17136" y="1773936"/>
            <a:ext cx="475488" cy="475488"/>
          </a:xfrm>
          <a:prstGeom prst="roundRect">
            <a:avLst>
              <a:gd name="adj" fmla="val 18000"/>
            </a:avLst>
          </a:prstGeom>
          <a:solidFill>
            <a:srgbClr val="4A6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1810512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B1F3A"/>
                </a:solidFill>
                <a:latin typeface="PingFang SC"/>
              </a:rPr>
              <a:t>私有化 PoC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5424" y="2340864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4A6CF7"/>
                </a:solidFill>
                <a:latin typeface="PingFang SC"/>
              </a:rPr>
              <a:t>6–12 个月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5424" y="2651760"/>
            <a:ext cx="306324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80" b="0">
                <a:solidFill>
                  <a:srgbClr val="5B6B7C"/>
                </a:solidFill>
                <a:latin typeface="PingFang SC"/>
              </a:rPr>
              <a:t>· 小智云部署企业侧 / 专有云</a:t>
            </a:r>
          </a:p>
          <a:p>
            <a:pPr algn="l">
              <a:lnSpc>
                <a:spcPct val="140000"/>
              </a:lnSpc>
            </a:pPr>
            <a:r>
              <a:rPr sz="880" b="0">
                <a:solidFill>
                  <a:srgbClr val="5B6B7C"/>
                </a:solidFill>
                <a:latin typeface="PingFang SC"/>
              </a:rPr>
              <a:t>· 数据可控 / 低时延</a:t>
            </a:r>
          </a:p>
          <a:p>
            <a:pPr algn="l">
              <a:lnSpc>
                <a:spcPct val="140000"/>
              </a:lnSpc>
            </a:pPr>
            <a:r>
              <a:rPr sz="880" b="0">
                <a:solidFill>
                  <a:srgbClr val="5B6B7C"/>
                </a:solidFill>
                <a:latin typeface="PingFang SC"/>
              </a:rPr>
              <a:t>· GPU / 运维 / 许可</a:t>
            </a:r>
          </a:p>
          <a:p>
            <a:pPr algn="l">
              <a:lnSpc>
                <a:spcPct val="140000"/>
              </a:lnSpc>
            </a:pPr>
            <a:r>
              <a:rPr sz="880" b="0">
                <a:solidFill>
                  <a:srgbClr val="5B6B7C"/>
                </a:solidFill>
                <a:latin typeface="PingFang SC"/>
              </a:rPr>
              <a:t>· 先 PoC 再推广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82127" y="2971800"/>
            <a:ext cx="137161" cy="0"/>
          </a:xfrm>
          <a:prstGeom prst="line">
            <a:avLst/>
          </a:prstGeom>
          <a:ln w="15240">
            <a:solidFill>
              <a:srgbClr val="B8C6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065007" y="1572768"/>
            <a:ext cx="3511296" cy="2697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65007" y="1572768"/>
            <a:ext cx="3511296" cy="91440"/>
          </a:xfrm>
          <a:prstGeom prst="roundRect">
            <a:avLst>
              <a:gd name="adj" fmla="val 4000"/>
            </a:avLst>
          </a:prstGeom>
          <a:solidFill>
            <a:srgbClr val="7C5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66175" y="1773936"/>
            <a:ext cx="475488" cy="475488"/>
          </a:xfrm>
          <a:prstGeom prst="roundRect">
            <a:avLst>
              <a:gd name="adj" fmla="val 18000"/>
            </a:avLst>
          </a:prstGeom>
          <a:solidFill>
            <a:srgbClr val="7C5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1810512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B1F3A"/>
                </a:solidFill>
                <a:latin typeface="PingFang SC"/>
              </a:rPr>
              <a:t>平台合并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4463" y="2340864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7C5CE5"/>
                </a:solidFill>
                <a:latin typeface="PingFang SC"/>
              </a:rPr>
              <a:t>12 个月+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4463" y="2651760"/>
            <a:ext cx="306324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80" b="0">
                <a:solidFill>
                  <a:srgbClr val="5B6B7C"/>
                </a:solidFill>
                <a:latin typeface="PingFang SC"/>
              </a:rPr>
              <a:t>· 私有化小智云 + 企业服务端</a:t>
            </a:r>
          </a:p>
          <a:p>
            <a:pPr algn="l">
              <a:lnSpc>
                <a:spcPct val="140000"/>
              </a:lnSpc>
            </a:pPr>
            <a:r>
              <a:rPr sz="880" b="0">
                <a:solidFill>
                  <a:srgbClr val="5B6B7C"/>
                </a:solidFill>
                <a:latin typeface="PingFang SC"/>
              </a:rPr>
              <a:t>· 共享身份 / 设备 / 观测</a:t>
            </a:r>
          </a:p>
          <a:p>
            <a:pPr algn="l">
              <a:lnSpc>
                <a:spcPct val="140000"/>
              </a:lnSpc>
            </a:pPr>
            <a:r>
              <a:rPr sz="880" b="0">
                <a:solidFill>
                  <a:srgbClr val="5B6B7C"/>
                </a:solidFill>
                <a:latin typeface="PingFang SC"/>
              </a:rPr>
              <a:t>· 语音 / 业务平面隔离</a:t>
            </a:r>
          </a:p>
          <a:p>
            <a:pPr algn="l">
              <a:lnSpc>
                <a:spcPct val="140000"/>
              </a:lnSpc>
            </a:pPr>
            <a:r>
              <a:rPr sz="880" b="0">
                <a:solidFill>
                  <a:srgbClr val="5B6B7C"/>
                </a:solidFill>
                <a:latin typeface="PingFang SC"/>
              </a:rPr>
              <a:t>· 避免单体耦合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617720"/>
            <a:ext cx="10972800" cy="1298448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477316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35D0BA"/>
                </a:solidFill>
                <a:latin typeface="PingFang SC"/>
              </a:rPr>
              <a:t>合并原则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47088" y="4754880"/>
            <a:ext cx="9326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FFFFFF"/>
                </a:solidFill>
                <a:latin typeface="PingFang SC"/>
              </a:rPr>
              <a:t>部署 / 组织合并，不是把 ASR/LLM 塞进业务服务端；先抽象接口，再合并。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5138928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35D0BA"/>
                </a:solidFill>
                <a:latin typeface="PingFang SC"/>
              </a:rPr>
              <a:t>设备双通道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47088" y="5120640"/>
            <a:ext cx="9326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FFFFFF"/>
                </a:solidFill>
                <a:latin typeface="PingFang SC"/>
              </a:rPr>
              <a:t>主协议语音 + 第二路 MQTT 控制始终保留；私有化不改变硬件与唤醒词。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181344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5B6B7C"/>
                </a:solidFill>
                <a:latin typeface="PingFang SC"/>
              </a:rPr>
              <a:t>建议：一期 SaaS 试点，二期私有化 PoC，三期再评估合并；不要在验证产品价值前投入私有化重资产。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95760" y="6528816"/>
            <a:ext cx="228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8A99A8"/>
                </a:solidFill>
                <a:latin typeface="PingFang S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0E9F9A"/>
                </a:solidFill>
                <a:latin typeface="PingFang SC"/>
              </a:rPr>
              <a:t>THREE 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B1F3A"/>
                </a:solidFill>
                <a:latin typeface="PingFang SC"/>
              </a:rPr>
              <a:t>三条核心链路，先解决“消息到桌面”和“动作可闭环”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8A99A8"/>
                </a:solidFill>
                <a:latin typeface="PingFang SC"/>
              </a:rPr>
              <a:t>威思客 · 桌面 AI 助理 / 电子工牌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55480" y="6528816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8A99A8"/>
                </a:solidFill>
                <a:latin typeface="PingFang SC"/>
              </a:rPr>
              <a:t>内部讨论稿 · 2026.10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1298448" cy="1170432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819" b="1">
                <a:solidFill>
                  <a:srgbClr val="FFFFFF"/>
                </a:solidFill>
                <a:latin typeface="PingFang SC"/>
              </a:rPr>
              <a:t>01</a:t>
            </a:r>
          </a:p>
          <a:p>
            <a:pPr algn="ctr">
              <a:lnSpc>
                <a:spcPct val="110000"/>
              </a:lnSpc>
            </a:pPr>
            <a:r>
              <a:rPr sz="819" b="1">
                <a:solidFill>
                  <a:srgbClr val="FFFFFF"/>
                </a:solidFill>
                <a:latin typeface="PingFang SC"/>
              </a:rPr>
              <a:t>业务消息推送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29968" y="1481328"/>
            <a:ext cx="1773936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1591056"/>
            <a:ext cx="16276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10" b="1">
                <a:solidFill>
                  <a:srgbClr val="14213D"/>
                </a:solidFill>
                <a:latin typeface="PingFang SC"/>
              </a:rPr>
              <a:t>威思客 / Agent</a:t>
            </a:r>
          </a:p>
          <a:p>
            <a:pPr algn="l">
              <a:lnSpc>
                <a:spcPct val="95000"/>
              </a:lnSpc>
            </a:pPr>
            <a:r>
              <a:rPr sz="810" b="1">
                <a:solidFill>
                  <a:srgbClr val="14213D"/>
                </a:solidFill>
                <a:latin typeface="PingFang SC"/>
              </a:rPr>
              <a:t>事件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975104"/>
            <a:ext cx="162763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690" b="0">
                <a:solidFill>
                  <a:srgbClr val="5B6B7C"/>
                </a:solidFill>
                <a:latin typeface="PingFang SC"/>
              </a:rPr>
              <a:t>会议变更 · 待办 · 提醒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22191" y="1956816"/>
            <a:ext cx="182881" cy="0"/>
          </a:xfrm>
          <a:prstGeom prst="line">
            <a:avLst/>
          </a:prstGeom>
          <a:ln w="12700">
            <a:solidFill>
              <a:srgbClr val="E8A3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023360" y="1481328"/>
            <a:ext cx="1773936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96512" y="1591056"/>
            <a:ext cx="16276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10" b="1">
                <a:solidFill>
                  <a:srgbClr val="14213D"/>
                </a:solidFill>
                <a:latin typeface="PingFang SC"/>
              </a:rPr>
              <a:t>服务端适配</a:t>
            </a:r>
          </a:p>
          <a:p>
            <a:pPr algn="l">
              <a:lnSpc>
                <a:spcPct val="95000"/>
              </a:lnSpc>
            </a:pPr>
            <a:r>
              <a:rPr sz="810" b="1">
                <a:solidFill>
                  <a:srgbClr val="14213D"/>
                </a:solidFill>
                <a:latin typeface="PingFang SC"/>
              </a:rPr>
              <a:t>+ 编排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1975104"/>
            <a:ext cx="162763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690" b="0">
                <a:solidFill>
                  <a:srgbClr val="5B6B7C"/>
                </a:solidFill>
                <a:latin typeface="PingFang SC"/>
              </a:rPr>
              <a:t>路由 · 模板 · 去重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15584" y="1956816"/>
            <a:ext cx="182880" cy="0"/>
          </a:xfrm>
          <a:prstGeom prst="line">
            <a:avLst/>
          </a:prstGeom>
          <a:ln w="12700">
            <a:solidFill>
              <a:srgbClr val="E8A3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016752" y="1481328"/>
            <a:ext cx="1773936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9904" y="1591056"/>
            <a:ext cx="16276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10" b="1">
                <a:solidFill>
                  <a:srgbClr val="14213D"/>
                </a:solidFill>
                <a:latin typeface="PingFang SC"/>
              </a:rPr>
              <a:t>MQTT 控制通道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1975104"/>
            <a:ext cx="162763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690" b="0">
                <a:solidFill>
                  <a:srgbClr val="5B6B7C"/>
                </a:solidFill>
                <a:latin typeface="PingFang SC"/>
              </a:rPr>
              <a:t>notify / set_image</a:t>
            </a:r>
          </a:p>
          <a:p>
            <a:pPr algn="l">
              <a:lnSpc>
                <a:spcPct val="95000"/>
              </a:lnSpc>
            </a:pPr>
            <a:r>
              <a:rPr sz="690" b="0">
                <a:solidFill>
                  <a:srgbClr val="5B6B7C"/>
                </a:solidFill>
                <a:latin typeface="PingFang SC"/>
              </a:rPr>
              <a:t>set_status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08975" y="1956816"/>
            <a:ext cx="182881" cy="0"/>
          </a:xfrm>
          <a:prstGeom prst="line">
            <a:avLst/>
          </a:prstGeom>
          <a:ln w="12700">
            <a:solidFill>
              <a:srgbClr val="E8A3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010144" y="1481328"/>
            <a:ext cx="1773936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83296" y="1591056"/>
            <a:ext cx="16276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10" b="1">
                <a:solidFill>
                  <a:srgbClr val="14213D"/>
                </a:solidFill>
                <a:latin typeface="PingFang SC"/>
              </a:rPr>
              <a:t>桌面显示 + 播报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1975104"/>
            <a:ext cx="162763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690" b="0">
                <a:solidFill>
                  <a:srgbClr val="5B6B7C"/>
                </a:solidFill>
                <a:latin typeface="PingFang SC"/>
              </a:rPr>
              <a:t>会议卡片 · 语音提醒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802367" y="1956816"/>
            <a:ext cx="182881" cy="0"/>
          </a:xfrm>
          <a:prstGeom prst="line">
            <a:avLst/>
          </a:prstGeom>
          <a:ln w="12700">
            <a:solidFill>
              <a:srgbClr val="E8A3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003536" y="1481328"/>
            <a:ext cx="1773936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76688" y="1591056"/>
            <a:ext cx="16276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10" b="1">
                <a:solidFill>
                  <a:srgbClr val="14213D"/>
                </a:solidFill>
                <a:latin typeface="PingFang SC"/>
              </a:rPr>
              <a:t>回执 / 状态回传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76688" y="1975104"/>
            <a:ext cx="162763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690" b="0">
                <a:solidFill>
                  <a:srgbClr val="5B6B7C"/>
                </a:solidFill>
                <a:latin typeface="PingFang SC"/>
              </a:rPr>
              <a:t>设备影子 · 审计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3108960"/>
            <a:ext cx="1298448" cy="1170432"/>
          </a:xfrm>
          <a:prstGeom prst="roundRect">
            <a:avLst>
              <a:gd name="adj" fmla="val 8000"/>
            </a:avLst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819" b="1">
                <a:solidFill>
                  <a:srgbClr val="FFFFFF"/>
                </a:solidFill>
                <a:latin typeface="PingFang SC"/>
              </a:rPr>
              <a:t>02</a:t>
            </a:r>
          </a:p>
          <a:p>
            <a:pPr algn="ctr">
              <a:lnSpc>
                <a:spcPct val="110000"/>
              </a:lnSpc>
            </a:pPr>
            <a:r>
              <a:rPr sz="819" b="1">
                <a:solidFill>
                  <a:srgbClr val="FFFFFF"/>
                </a:solidFill>
                <a:latin typeface="PingFang SC"/>
              </a:rPr>
              <a:t>语音问日程 / 工位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29968" y="3108960"/>
            <a:ext cx="1773936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0E9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0" y="3218688"/>
            <a:ext cx="16276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10" b="1">
                <a:solidFill>
                  <a:srgbClr val="14213D"/>
                </a:solidFill>
                <a:latin typeface="PingFang SC"/>
              </a:rPr>
              <a:t>唤醒 / 提问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3602736"/>
            <a:ext cx="162763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690" b="0">
                <a:solidFill>
                  <a:srgbClr val="5B6B7C"/>
                </a:solidFill>
                <a:latin typeface="PingFang SC"/>
              </a:rPr>
              <a:t>“我今天几点开会？”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822191" y="3584448"/>
            <a:ext cx="182881" cy="0"/>
          </a:xfrm>
          <a:prstGeom prst="line">
            <a:avLst/>
          </a:prstGeom>
          <a:ln w="12700">
            <a:solidFill>
              <a:srgbClr val="0E9F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023360" y="3108960"/>
            <a:ext cx="1773936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0E9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96512" y="3218688"/>
            <a:ext cx="16276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10" b="1">
                <a:solidFill>
                  <a:srgbClr val="14213D"/>
                </a:solidFill>
                <a:latin typeface="PingFang SC"/>
              </a:rPr>
              <a:t>小智云</a:t>
            </a:r>
          </a:p>
          <a:p>
            <a:pPr algn="l">
              <a:lnSpc>
                <a:spcPct val="95000"/>
              </a:lnSpc>
            </a:pPr>
            <a:r>
              <a:rPr sz="810" b="1">
                <a:solidFill>
                  <a:srgbClr val="14213D"/>
                </a:solidFill>
                <a:latin typeface="PingFang SC"/>
              </a:rPr>
              <a:t>ASR / LLM / TTS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96512" y="3602736"/>
            <a:ext cx="162763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690" b="0">
                <a:solidFill>
                  <a:srgbClr val="5B6B7C"/>
                </a:solidFill>
                <a:latin typeface="PingFang SC"/>
              </a:rPr>
              <a:t>语音理解与回答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815584" y="3584448"/>
            <a:ext cx="182880" cy="0"/>
          </a:xfrm>
          <a:prstGeom prst="line">
            <a:avLst/>
          </a:prstGeom>
          <a:ln w="12700">
            <a:solidFill>
              <a:srgbClr val="0E9F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016752" y="3108960"/>
            <a:ext cx="1773936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0E9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9904" y="3218688"/>
            <a:ext cx="16276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10" b="1">
                <a:solidFill>
                  <a:srgbClr val="14213D"/>
                </a:solidFill>
                <a:latin typeface="PingFang SC"/>
              </a:rPr>
              <a:t>设备 MCP 工具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9904" y="3602736"/>
            <a:ext cx="162763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690" b="0">
                <a:solidFill>
                  <a:srgbClr val="5B6B7C"/>
                </a:solidFill>
                <a:latin typeface="PingFang SC"/>
              </a:rPr>
              <a:t>业务查询代理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808975" y="3584448"/>
            <a:ext cx="182881" cy="0"/>
          </a:xfrm>
          <a:prstGeom prst="line">
            <a:avLst/>
          </a:prstGeom>
          <a:ln w="12700">
            <a:solidFill>
              <a:srgbClr val="0E9F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010144" y="3108960"/>
            <a:ext cx="1773936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7C5CE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83296" y="3218688"/>
            <a:ext cx="16276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10" b="1">
                <a:solidFill>
                  <a:srgbClr val="14213D"/>
                </a:solidFill>
                <a:latin typeface="PingFang SC"/>
              </a:rPr>
              <a:t>企业 MCP 工具桥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83296" y="3602736"/>
            <a:ext cx="162763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690" b="0">
                <a:solidFill>
                  <a:srgbClr val="5B6B7C"/>
                </a:solidFill>
                <a:latin typeface="PingFang SC"/>
              </a:rPr>
              <a:t>Phase 2 · 需验证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802367" y="3584448"/>
            <a:ext cx="182881" cy="0"/>
          </a:xfrm>
          <a:prstGeom prst="line">
            <a:avLst/>
          </a:prstGeom>
          <a:ln w="12700">
            <a:solidFill>
              <a:srgbClr val="7C5CE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10003536" y="3108960"/>
            <a:ext cx="1773936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0E9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76688" y="3218688"/>
            <a:ext cx="16276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10" b="1">
                <a:solidFill>
                  <a:srgbClr val="14213D"/>
                </a:solidFill>
                <a:latin typeface="PingFang SC"/>
              </a:rPr>
              <a:t>威思客：日程/工位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76688" y="3602736"/>
            <a:ext cx="162763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690" b="0">
                <a:solidFill>
                  <a:srgbClr val="5B6B7C"/>
                </a:solidFill>
                <a:latin typeface="PingFang SC"/>
              </a:rPr>
              <a:t>身份 · 会议 · 工位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66928" y="4736592"/>
            <a:ext cx="1298448" cy="1170432"/>
          </a:xfrm>
          <a:prstGeom prst="roundRect">
            <a:avLst>
              <a:gd name="adj" fmla="val 8000"/>
            </a:avLst>
          </a:prstGeom>
          <a:solidFill>
            <a:srgbClr val="4A6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819" b="1">
                <a:solidFill>
                  <a:srgbClr val="FFFFFF"/>
                </a:solidFill>
                <a:latin typeface="PingFang SC"/>
              </a:rPr>
              <a:t>03</a:t>
            </a:r>
          </a:p>
          <a:p>
            <a:pPr algn="ctr">
              <a:lnSpc>
                <a:spcPct val="110000"/>
              </a:lnSpc>
            </a:pPr>
            <a:r>
              <a:rPr sz="819" b="1">
                <a:solidFill>
                  <a:srgbClr val="FFFFFF"/>
                </a:solidFill>
                <a:latin typeface="PingFang SC"/>
              </a:rPr>
              <a:t>签到 / 签出 + Agent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029968" y="4736592"/>
            <a:ext cx="1773936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4A6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0" y="4846320"/>
            <a:ext cx="16276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10" b="1">
                <a:solidFill>
                  <a:srgbClr val="14213D"/>
                </a:solidFill>
                <a:latin typeface="PingFang SC"/>
              </a:rPr>
              <a:t>按键 / 语音 /</a:t>
            </a:r>
          </a:p>
          <a:p>
            <a:pPr algn="l">
              <a:lnSpc>
                <a:spcPct val="95000"/>
              </a:lnSpc>
            </a:pPr>
            <a:r>
              <a:rPr sz="810" b="1">
                <a:solidFill>
                  <a:srgbClr val="14213D"/>
                </a:solidFill>
                <a:latin typeface="PingFang SC"/>
              </a:rPr>
              <a:t>工牌确认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03120" y="5230368"/>
            <a:ext cx="162763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690" b="0">
                <a:solidFill>
                  <a:srgbClr val="5B6B7C"/>
                </a:solidFill>
                <a:latin typeface="PingFang SC"/>
              </a:rPr>
              <a:t>桌面直接操作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822191" y="5212079"/>
            <a:ext cx="182881" cy="0"/>
          </a:xfrm>
          <a:prstGeom prst="line">
            <a:avLst/>
          </a:prstGeom>
          <a:ln w="12700">
            <a:solidFill>
              <a:srgbClr val="4A6CF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4023360" y="4736592"/>
            <a:ext cx="1773936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4A6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096512" y="4846320"/>
            <a:ext cx="16276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10" b="1">
                <a:solidFill>
                  <a:srgbClr val="14213D"/>
                </a:solidFill>
                <a:latin typeface="PingFang SC"/>
              </a:rPr>
              <a:t>设备控制通道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96512" y="5230368"/>
            <a:ext cx="162763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690" b="0">
                <a:solidFill>
                  <a:srgbClr val="5B6B7C"/>
                </a:solidFill>
                <a:latin typeface="PingFang SC"/>
              </a:rPr>
              <a:t>Control MQTT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815584" y="5212079"/>
            <a:ext cx="182880" cy="0"/>
          </a:xfrm>
          <a:prstGeom prst="line">
            <a:avLst/>
          </a:prstGeom>
          <a:ln w="12700">
            <a:solidFill>
              <a:srgbClr val="4A6CF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6016752" y="4736592"/>
            <a:ext cx="1773936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4A6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89904" y="4846320"/>
            <a:ext cx="16276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10" b="1">
                <a:solidFill>
                  <a:srgbClr val="14213D"/>
                </a:solidFill>
                <a:latin typeface="PingFang SC"/>
              </a:rPr>
              <a:t>服务端校验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89904" y="5230368"/>
            <a:ext cx="162763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690" b="0">
                <a:solidFill>
                  <a:srgbClr val="5B6B7C"/>
                </a:solidFill>
                <a:latin typeface="PingFang SC"/>
              </a:rPr>
              <a:t>身份 · 幂等 · 权限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7808975" y="5212079"/>
            <a:ext cx="182881" cy="0"/>
          </a:xfrm>
          <a:prstGeom prst="line">
            <a:avLst/>
          </a:prstGeom>
          <a:ln w="12700">
            <a:solidFill>
              <a:srgbClr val="4A6CF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8010144" y="4736592"/>
            <a:ext cx="1773936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4A6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83296" y="4846320"/>
            <a:ext cx="16276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10" b="1">
                <a:solidFill>
                  <a:srgbClr val="14213D"/>
                </a:solidFill>
                <a:latin typeface="PingFang SC"/>
              </a:rPr>
              <a:t>威思客签到 / 签出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83296" y="5230368"/>
            <a:ext cx="162763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690" b="0">
                <a:solidFill>
                  <a:srgbClr val="5B6B7C"/>
                </a:solidFill>
                <a:latin typeface="PingFang SC"/>
              </a:rPr>
              <a:t>状态回写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9802367" y="5212079"/>
            <a:ext cx="182881" cy="0"/>
          </a:xfrm>
          <a:prstGeom prst="line">
            <a:avLst/>
          </a:prstGeom>
          <a:ln w="12700">
            <a:solidFill>
              <a:srgbClr val="4A6CF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10003536" y="4736592"/>
            <a:ext cx="1773936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4A6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076688" y="4846320"/>
            <a:ext cx="16276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10" b="1">
                <a:solidFill>
                  <a:srgbClr val="14213D"/>
                </a:solidFill>
                <a:latin typeface="PingFang SC"/>
              </a:rPr>
              <a:t>上屏 + Agent</a:t>
            </a:r>
          </a:p>
          <a:p>
            <a:pPr algn="l">
              <a:lnSpc>
                <a:spcPct val="95000"/>
              </a:lnSpc>
            </a:pPr>
            <a:r>
              <a:rPr sz="810" b="1">
                <a:solidFill>
                  <a:srgbClr val="14213D"/>
                </a:solidFill>
                <a:latin typeface="PingFang SC"/>
              </a:rPr>
              <a:t>同步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76688" y="5230368"/>
            <a:ext cx="162763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690" b="0">
                <a:solidFill>
                  <a:srgbClr val="5B6B7C"/>
                </a:solidFill>
                <a:latin typeface="PingFang SC"/>
              </a:rPr>
              <a:t>结果可追溯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6928" y="6327648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5B6B7C"/>
                </a:solidFill>
                <a:latin typeface="PingFang SC"/>
              </a:rPr>
              <a:t>* 业务问答依赖设备 MCP 代理（企业服务端只连威思客/Agent）；一期先用控制通道推送兜底。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795760" y="6528816"/>
            <a:ext cx="228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8A99A8"/>
                </a:solidFill>
                <a:latin typeface="PingFang S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0E9F9A"/>
                </a:solidFill>
                <a:latin typeface="PingFang SC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B1F3A"/>
                </a:solidFill>
                <a:latin typeface="PingFang SC"/>
              </a:rPr>
              <a:t>方案评估：可行，但成败在安全、运维和生态接口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B6B7C"/>
                </a:solidFill>
                <a:latin typeface="PingFang SC"/>
              </a:rPr>
              <a:t>综合 7.1 / 10：适合 30–50 台试点，不建议直接大规模铺开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8A99A8"/>
                </a:solidFill>
                <a:latin typeface="PingFang SC"/>
              </a:rPr>
              <a:t>威思客 · 桌面 AI 助理 / 电子工牌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55480" y="6528816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8A99A8"/>
                </a:solidFill>
                <a:latin typeface="PingFang SC"/>
              </a:rPr>
              <a:t>内部讨论稿 · 2026.10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14213D"/>
                </a:solidFill>
                <a:latin typeface="PingFang SC"/>
              </a:rPr>
              <a:t>技术可行性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1600200"/>
            <a:ext cx="3246120" cy="164592"/>
          </a:xfrm>
          <a:prstGeom prst="roundRect">
            <a:avLst>
              <a:gd name="adj" fmla="val 45000"/>
            </a:avLst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23160" y="1600200"/>
            <a:ext cx="2596896" cy="164592"/>
          </a:xfrm>
          <a:prstGeom prst="roundRect">
            <a:avLst>
              <a:gd name="adj" fmla="val 45000"/>
            </a:avLst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6440" y="1536192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>
                <a:solidFill>
                  <a:srgbClr val="0E9F9A"/>
                </a:solidFill>
                <a:latin typeface="PingFang SC"/>
              </a:rPr>
              <a:t>8.0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1284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14213D"/>
                </a:solidFill>
                <a:latin typeface="PingFang SC"/>
              </a:rPr>
              <a:t>产品差异化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3160" y="2258568"/>
            <a:ext cx="3246120" cy="164592"/>
          </a:xfrm>
          <a:prstGeom prst="roundRect">
            <a:avLst>
              <a:gd name="adj" fmla="val 45000"/>
            </a:avLst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423160" y="2258568"/>
            <a:ext cx="2759201" cy="164592"/>
          </a:xfrm>
          <a:prstGeom prst="roundRect">
            <a:avLst>
              <a:gd name="adj" fmla="val 45000"/>
            </a:avLst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06440" y="2194560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>
                <a:solidFill>
                  <a:srgbClr val="0E9F9A"/>
                </a:solidFill>
                <a:latin typeface="PingFang SC"/>
              </a:rPr>
              <a:t>8.5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871215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14213D"/>
                </a:solidFill>
                <a:latin typeface="PingFang SC"/>
              </a:rPr>
              <a:t>集成复杂度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2916935"/>
            <a:ext cx="3246120" cy="164592"/>
          </a:xfrm>
          <a:prstGeom prst="roundRect">
            <a:avLst>
              <a:gd name="adj" fmla="val 45000"/>
            </a:avLst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423160" y="2916935"/>
            <a:ext cx="2109978" cy="164592"/>
          </a:xfrm>
          <a:prstGeom prst="roundRect">
            <a:avLst>
              <a:gd name="adj" fmla="val 45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06440" y="2852927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>
                <a:solidFill>
                  <a:srgbClr val="E8A33D"/>
                </a:solidFill>
                <a:latin typeface="PingFang SC"/>
              </a:rPr>
              <a:t>6.5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529584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14213D"/>
                </a:solidFill>
                <a:latin typeface="PingFang SC"/>
              </a:rPr>
              <a:t>安全与合规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23160" y="3575304"/>
            <a:ext cx="3246120" cy="164592"/>
          </a:xfrm>
          <a:prstGeom prst="roundRect">
            <a:avLst>
              <a:gd name="adj" fmla="val 45000"/>
            </a:avLst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423160" y="3575304"/>
            <a:ext cx="1623060" cy="164592"/>
          </a:xfrm>
          <a:prstGeom prst="roundRect">
            <a:avLst>
              <a:gd name="adj" fmla="val 45000"/>
            </a:avLst>
          </a:prstGeom>
          <a:solidFill>
            <a:srgbClr val="CF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06440" y="3511296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>
                <a:solidFill>
                  <a:srgbClr val="CF4B4B"/>
                </a:solidFill>
                <a:latin typeface="PingFang SC"/>
              </a:rPr>
              <a:t>5.0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187952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14213D"/>
                </a:solidFill>
                <a:latin typeface="PingFang SC"/>
              </a:rPr>
              <a:t>可运维性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23160" y="4233672"/>
            <a:ext cx="3246120" cy="164592"/>
          </a:xfrm>
          <a:prstGeom prst="roundRect">
            <a:avLst>
              <a:gd name="adj" fmla="val 45000"/>
            </a:avLst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423160" y="4233672"/>
            <a:ext cx="1785366" cy="164592"/>
          </a:xfrm>
          <a:prstGeom prst="roundRect">
            <a:avLst>
              <a:gd name="adj" fmla="val 45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06440" y="4169664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>
                <a:solidFill>
                  <a:srgbClr val="E8A33D"/>
                </a:solidFill>
                <a:latin typeface="PingFang SC"/>
              </a:rPr>
              <a:t>5.5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84632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14213D"/>
                </a:solidFill>
                <a:latin typeface="PingFang SC"/>
              </a:rPr>
              <a:t>交付成本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23160" y="4892040"/>
            <a:ext cx="3246120" cy="164592"/>
          </a:xfrm>
          <a:prstGeom prst="roundRect">
            <a:avLst>
              <a:gd name="adj" fmla="val 45000"/>
            </a:avLst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423160" y="4892040"/>
            <a:ext cx="2109978" cy="164592"/>
          </a:xfrm>
          <a:prstGeom prst="roundRect">
            <a:avLst>
              <a:gd name="adj" fmla="val 45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06440" y="4828032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>
                <a:solidFill>
                  <a:srgbClr val="E8A33D"/>
                </a:solidFill>
                <a:latin typeface="PingFang SC"/>
              </a:rPr>
              <a:t>6.5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623560"/>
            <a:ext cx="5486400" cy="566928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724144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35D0BA"/>
                </a:solidFill>
                <a:latin typeface="PingFang SC"/>
              </a:rPr>
              <a:t>综合评分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83080" y="5669280"/>
            <a:ext cx="1463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PingFang SC"/>
              </a:rPr>
              <a:t>7.1 / 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37560" y="574243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D6E4F0"/>
                </a:solidFill>
                <a:latin typeface="PingFang SC"/>
              </a:rPr>
              <a:t>先试点、后产品化、再规模化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148132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B1F3A"/>
                </a:solidFill>
                <a:latin typeface="PingFang SC"/>
              </a:rPr>
              <a:t>三个前置条件（不做会翻车）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46520" y="1920240"/>
            <a:ext cx="513892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2084832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7C5CE5"/>
                </a:solidFill>
                <a:latin typeface="PingFang SC"/>
              </a:rPr>
              <a:t>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67728" y="2029968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14213D"/>
                </a:solidFill>
                <a:latin typeface="PingFang SC"/>
              </a:rPr>
              <a:t>MCP 业务边界未验证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67728" y="2313432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60" b="0">
                <a:solidFill>
                  <a:srgbClr val="5B6B7C"/>
                </a:solidFill>
                <a:latin typeface="PingFang SC"/>
              </a:rPr>
              <a:t>小智云 MCP 当前主要调设备工具；</a:t>
            </a:r>
          </a:p>
          <a:p>
            <a:pPr algn="l">
              <a:lnSpc>
                <a:spcPct val="130000"/>
              </a:lnSpc>
            </a:pPr>
            <a:r>
              <a:rPr sz="760" b="0">
                <a:solidFill>
                  <a:srgbClr val="5B6B7C"/>
                </a:solidFill>
                <a:latin typeface="PingFang SC"/>
              </a:rPr>
              <a:t>业务数据需设备 MCP 代理。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46520" y="3090672"/>
            <a:ext cx="513892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3255264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CF4B4B"/>
                </a:solidFill>
                <a:latin typeface="PingFang SC"/>
              </a:rPr>
              <a:t>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67728" y="3200400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14213D"/>
                </a:solidFill>
                <a:latin typeface="PingFang SC"/>
              </a:rPr>
              <a:t>企业级安全未闭环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67728" y="3483864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60" b="0">
                <a:solidFill>
                  <a:srgbClr val="5B6B7C"/>
                </a:solidFill>
                <a:latin typeface="PingFang SC"/>
              </a:rPr>
              <a:t>当前控制通道默认明文/默认凭据，</a:t>
            </a:r>
          </a:p>
          <a:p>
            <a:pPr algn="l">
              <a:lnSpc>
                <a:spcPct val="130000"/>
              </a:lnSpc>
            </a:pPr>
            <a:r>
              <a:rPr sz="760" b="0">
                <a:solidFill>
                  <a:srgbClr val="5B6B7C"/>
                </a:solidFill>
                <a:latin typeface="PingFang SC"/>
              </a:rPr>
              <a:t>OTA 关闭；必须 TLS + 证书 + ACL。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46520" y="4261104"/>
            <a:ext cx="513892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0" y="4425696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E8A33D"/>
                </a:solidFill>
                <a:latin typeface="PingFang SC"/>
              </a:rPr>
              <a:t>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67728" y="4370832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14213D"/>
                </a:solidFill>
                <a:latin typeface="PingFang SC"/>
              </a:rPr>
              <a:t>威思客单源 + 运维缺口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67728" y="4654296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60" b="0">
                <a:solidFill>
                  <a:srgbClr val="5B6B7C"/>
                </a:solidFill>
                <a:latin typeface="PingFang SC"/>
              </a:rPr>
              <a:t>威思客是唯一身份/日程源；</a:t>
            </a:r>
          </a:p>
          <a:p>
            <a:pPr algn="l">
              <a:lnSpc>
                <a:spcPct val="130000"/>
              </a:lnSpc>
            </a:pPr>
            <a:r>
              <a:rPr sz="760" b="0">
                <a:solidFill>
                  <a:srgbClr val="5B6B7C"/>
                </a:solidFill>
                <a:latin typeface="PingFang SC"/>
              </a:rPr>
              <a:t>Agent API 差异、事件 QoS 0；</a:t>
            </a:r>
          </a:p>
          <a:p>
            <a:pPr algn="l">
              <a:lnSpc>
                <a:spcPct val="130000"/>
              </a:lnSpc>
            </a:pPr>
            <a:r>
              <a:rPr sz="760" b="0">
                <a:solidFill>
                  <a:srgbClr val="5B6B7C"/>
                </a:solidFill>
                <a:latin typeface="PingFang SC"/>
              </a:rPr>
              <a:t>需要适配层、影子和重试。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5230368"/>
            <a:ext cx="5394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80" b="0">
                <a:solidFill>
                  <a:srgbClr val="5B6B7C"/>
                </a:solidFill>
                <a:latin typeface="PingFang SC"/>
              </a:rPr>
              <a:t>硬件：4B 板级已有，但 480×480 UI / 手势 / IMU / RTC / 电量需迁移；建议以 4B 为主开发目标。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630936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5B6B7C"/>
                </a:solidFill>
                <a:latin typeface="PingFang SC"/>
              </a:rPr>
              <a:t>结论：先证明“会议提醒 + 工位签到 + 工牌”闭环，再让 AI 问答和 Agent 智能体放大价值。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795760" y="6528816"/>
            <a:ext cx="228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8A99A8"/>
                </a:solidFill>
                <a:latin typeface="PingFang S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0E9F9A"/>
                </a:solidFill>
                <a:latin typeface="PingFang SC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B1F3A"/>
                </a:solidFill>
                <a:latin typeface="PingFang SC"/>
              </a:rPr>
              <a:t>分三步走：先试点，再产品化，后规模化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B6B7C"/>
                </a:solidFill>
                <a:latin typeface="PingFang SC"/>
              </a:rPr>
              <a:t>用 6–8 周证明价值，用 3–6 个月完成可复制交付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8A99A8"/>
                </a:solidFill>
                <a:latin typeface="PingFang SC"/>
              </a:rPr>
              <a:t>威思客 · 桌面 AI 助理 / 电子工牌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55480" y="6528816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8A99A8"/>
                </a:solidFill>
                <a:latin typeface="PingFang SC"/>
              </a:rPr>
              <a:t>内部讨论稿 · 2026.10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36192"/>
            <a:ext cx="3511296" cy="3154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536192"/>
            <a:ext cx="3511296" cy="91440"/>
          </a:xfrm>
          <a:prstGeom prst="roundRect">
            <a:avLst>
              <a:gd name="adj" fmla="val 4000"/>
            </a:avLst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77393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0E9F9A"/>
                </a:solidFill>
                <a:latin typeface="PingFang SC"/>
              </a:rPr>
              <a:t>Phase 0–1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98648" y="177393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5B6B7C"/>
                </a:solidFill>
                <a:latin typeface="PingFang SC"/>
              </a:rPr>
              <a:t>0–6 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057400"/>
            <a:ext cx="3017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0B1F3A"/>
                </a:solidFill>
                <a:latin typeface="PingFang SC"/>
              </a:rPr>
              <a:t>MVP 试点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578608"/>
            <a:ext cx="306324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80" b="0">
                <a:solidFill>
                  <a:srgbClr val="5B6B7C"/>
                </a:solidFill>
                <a:latin typeface="PingFang SC"/>
              </a:rPr>
              <a:t>· Broker / 设备注册 / 4B bring-up</a:t>
            </a:r>
          </a:p>
          <a:p>
            <a:pPr algn="l">
              <a:lnSpc>
                <a:spcPct val="145000"/>
              </a:lnSpc>
            </a:pPr>
            <a:r>
              <a:rPr sz="880" b="0">
                <a:solidFill>
                  <a:srgbClr val="5B6B7C"/>
                </a:solidFill>
                <a:latin typeface="PingFang SC"/>
              </a:rPr>
              <a:t>· 4B 480×480 工牌 UI + 3.49 基线</a:t>
            </a:r>
          </a:p>
          <a:p>
            <a:pPr algn="l">
              <a:lnSpc>
                <a:spcPct val="145000"/>
              </a:lnSpc>
            </a:pPr>
            <a:r>
              <a:rPr sz="880" b="0">
                <a:solidFill>
                  <a:srgbClr val="5B6B7C"/>
                </a:solidFill>
                <a:latin typeface="PingFang SC"/>
              </a:rPr>
              <a:t>· 威思客适配（身份/日程/会议/工位/签到）</a:t>
            </a:r>
          </a:p>
          <a:p>
            <a:pPr algn="l">
              <a:lnSpc>
                <a:spcPct val="145000"/>
              </a:lnSpc>
            </a:pPr>
            <a:r>
              <a:rPr sz="880" b="0">
                <a:solidFill>
                  <a:srgbClr val="5B6B7C"/>
                </a:solidFill>
                <a:latin typeface="PingFang SC"/>
              </a:rPr>
              <a:t>· Agent 消息推送（试点 WorkBuddy）</a:t>
            </a:r>
          </a:p>
          <a:p>
            <a:pPr algn="l">
              <a:lnSpc>
                <a:spcPct val="145000"/>
              </a:lnSpc>
            </a:pPr>
            <a:r>
              <a:rPr sz="880" b="0">
                <a:solidFill>
                  <a:srgbClr val="5B6B7C"/>
                </a:solidFill>
                <a:latin typeface="PingFang SC"/>
              </a:rPr>
              <a:t>· 30–50 台 4B，1–2 个楼层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420624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1">
                <a:solidFill>
                  <a:srgbClr val="0E9F9A"/>
                </a:solidFill>
                <a:latin typeface="PingFang SC"/>
              </a:rPr>
              <a:t>里程碑：试点验收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1536192"/>
            <a:ext cx="3511296" cy="3154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15968" y="1536192"/>
            <a:ext cx="3511296" cy="91440"/>
          </a:xfrm>
          <a:prstGeom prst="roundRect">
            <a:avLst>
              <a:gd name="adj" fmla="val 4000"/>
            </a:avLst>
          </a:prstGeom>
          <a:solidFill>
            <a:srgbClr val="4A6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177393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4A6CF7"/>
                </a:solidFill>
                <a:latin typeface="PingFang SC"/>
              </a:rPr>
              <a:t>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7688" y="177393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5B6B7C"/>
                </a:solidFill>
                <a:latin typeface="PingFang SC"/>
              </a:rPr>
              <a:t>6–12 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5424" y="2057400"/>
            <a:ext cx="3017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0B1F3A"/>
                </a:solidFill>
                <a:latin typeface="PingFang SC"/>
              </a:rPr>
              <a:t>AI 与智能体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5424" y="2578608"/>
            <a:ext cx="306324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80" b="0">
                <a:solidFill>
                  <a:srgbClr val="5B6B7C"/>
                </a:solidFill>
                <a:latin typeface="PingFang SC"/>
              </a:rPr>
              <a:t>· 设备 MCP 业务工具 / 语音问日程</a:t>
            </a:r>
          </a:p>
          <a:p>
            <a:pPr algn="l">
              <a:lnSpc>
                <a:spcPct val="145000"/>
              </a:lnSpc>
            </a:pPr>
            <a:r>
              <a:rPr sz="880" b="0">
                <a:solidFill>
                  <a:srgbClr val="5B6B7C"/>
                </a:solidFill>
                <a:latin typeface="PingFang SC"/>
              </a:rPr>
              <a:t>· 选定 Agent 双向智能体</a:t>
            </a:r>
          </a:p>
          <a:p>
            <a:pPr algn="l">
              <a:lnSpc>
                <a:spcPct val="145000"/>
              </a:lnSpc>
            </a:pPr>
            <a:r>
              <a:rPr sz="880" b="0">
                <a:solidFill>
                  <a:srgbClr val="5B6B7C"/>
                </a:solidFill>
                <a:latin typeface="PingFang SC"/>
              </a:rPr>
              <a:t>· 签到/签出闭环 + 状态同步</a:t>
            </a:r>
          </a:p>
          <a:p>
            <a:pPr algn="l">
              <a:lnSpc>
                <a:spcPct val="145000"/>
              </a:lnSpc>
            </a:pPr>
            <a:r>
              <a:rPr sz="880" b="0">
                <a:solidFill>
                  <a:srgbClr val="5B6B7C"/>
                </a:solidFill>
                <a:latin typeface="PingFang SC"/>
              </a:rPr>
              <a:t>· 小智云私有化 PoC</a:t>
            </a:r>
          </a:p>
          <a:p>
            <a:pPr algn="l">
              <a:lnSpc>
                <a:spcPct val="145000"/>
              </a:lnSpc>
            </a:pPr>
            <a:r>
              <a:rPr sz="880" b="0">
                <a:solidFill>
                  <a:srgbClr val="5B6B7C"/>
                </a:solidFill>
                <a:latin typeface="PingFang SC"/>
              </a:rPr>
              <a:t>· OTA / 安全基线 / 运营后台</a:t>
            </a:r>
          </a:p>
          <a:p>
            <a:pPr algn="l">
              <a:lnSpc>
                <a:spcPct val="145000"/>
              </a:lnSpc>
            </a:pPr>
            <a:r>
              <a:rPr sz="880" b="0">
                <a:solidFill>
                  <a:srgbClr val="5B6B7C"/>
                </a:solidFill>
                <a:latin typeface="PingFang SC"/>
              </a:rPr>
              <a:t>· 语音任务成功率 ≥ 85%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5424" y="420624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1">
                <a:solidFill>
                  <a:srgbClr val="4A6CF7"/>
                </a:solidFill>
                <a:latin typeface="PingFang SC"/>
              </a:rPr>
              <a:t>里程碑：语音闭环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5007" y="1536192"/>
            <a:ext cx="3511296" cy="3154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65007" y="1536192"/>
            <a:ext cx="3511296" cy="91440"/>
          </a:xfrm>
          <a:prstGeom prst="roundRect">
            <a:avLst>
              <a:gd name="adj" fmla="val 4000"/>
            </a:avLst>
          </a:prstGeom>
          <a:solidFill>
            <a:srgbClr val="7C5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84463" y="177393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7C5CE5"/>
                </a:solidFill>
                <a:latin typeface="PingFang SC"/>
              </a:rPr>
              <a:t>Phase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96727" y="177393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5B6B7C"/>
                </a:solidFill>
                <a:latin typeface="PingFang SC"/>
              </a:rPr>
              <a:t>3–6 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4463" y="2057400"/>
            <a:ext cx="3017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0B1F3A"/>
                </a:solidFill>
                <a:latin typeface="PingFang SC"/>
              </a:rPr>
              <a:t>规模化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4463" y="2578608"/>
            <a:ext cx="306324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80" b="0">
                <a:solidFill>
                  <a:srgbClr val="5B6B7C"/>
                </a:solidFill>
                <a:latin typeface="PingFang SC"/>
              </a:rPr>
              <a:t>· 多园区 / 多租户 / 分级权限</a:t>
            </a:r>
          </a:p>
          <a:p>
            <a:pPr algn="l">
              <a:lnSpc>
                <a:spcPct val="145000"/>
              </a:lnSpc>
            </a:pPr>
            <a:r>
              <a:rPr sz="880" b="0">
                <a:solidFill>
                  <a:srgbClr val="5B6B7C"/>
                </a:solidFill>
                <a:latin typeface="PingFang SC"/>
              </a:rPr>
              <a:t>· 私有化 / 平台合并部署</a:t>
            </a:r>
          </a:p>
          <a:p>
            <a:pPr algn="l">
              <a:lnSpc>
                <a:spcPct val="145000"/>
              </a:lnSpc>
            </a:pPr>
            <a:r>
              <a:rPr sz="880" b="0">
                <a:solidFill>
                  <a:srgbClr val="5B6B7C"/>
                </a:solidFill>
                <a:latin typeface="PingFang SC"/>
              </a:rPr>
              <a:t>· SLA、灰度发布、成本优化</a:t>
            </a:r>
          </a:p>
          <a:p>
            <a:pPr algn="l">
              <a:lnSpc>
                <a:spcPct val="145000"/>
              </a:lnSpc>
            </a:pPr>
            <a:r>
              <a:rPr sz="880" b="0">
                <a:solidFill>
                  <a:srgbClr val="5B6B7C"/>
                </a:solidFill>
                <a:latin typeface="PingFang SC"/>
              </a:rPr>
              <a:t>· 安全与合规评审</a:t>
            </a:r>
          </a:p>
          <a:p>
            <a:pPr algn="l">
              <a:lnSpc>
                <a:spcPct val="145000"/>
              </a:lnSpc>
            </a:pPr>
            <a:r>
              <a:rPr sz="880" b="0">
                <a:solidFill>
                  <a:srgbClr val="5B6B7C"/>
                </a:solidFill>
                <a:latin typeface="PingFang SC"/>
              </a:rPr>
              <a:t>· 复制到下一批工位</a:t>
            </a:r>
          </a:p>
          <a:p>
            <a:pPr algn="l">
              <a:lnSpc>
                <a:spcPct val="145000"/>
              </a:lnSpc>
            </a:pPr>
            <a:r>
              <a:rPr sz="880" b="0">
                <a:solidFill>
                  <a:srgbClr val="5B6B7C"/>
                </a:solidFill>
                <a:latin typeface="PingFang SC"/>
              </a:rPr>
              <a:t>· 形成可售卖方案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4463" y="420624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1">
                <a:solidFill>
                  <a:srgbClr val="7C5CE5"/>
                </a:solidFill>
                <a:latin typeface="PingFang SC"/>
              </a:rPr>
              <a:t>里程碑：可复制交付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983480"/>
            <a:ext cx="10972800" cy="100584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5120640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>
                <a:solidFill>
                  <a:srgbClr val="9FB6C9"/>
                </a:solidFill>
                <a:latin typeface="PingFang SC"/>
              </a:rPr>
              <a:t>设备在线率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536752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35D0BA"/>
                </a:solidFill>
                <a:latin typeface="PingFang SC"/>
              </a:rPr>
              <a:t>≥ 99%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79" y="5120640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>
                <a:solidFill>
                  <a:srgbClr val="9FB6C9"/>
                </a:solidFill>
                <a:latin typeface="PingFang SC"/>
              </a:rPr>
              <a:t>提醒到达率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79" y="536752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35D0BA"/>
                </a:solidFill>
                <a:latin typeface="PingFang SC"/>
              </a:rPr>
              <a:t>≥ 99%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02352" y="5120640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>
                <a:solidFill>
                  <a:srgbClr val="9FB6C9"/>
                </a:solidFill>
                <a:latin typeface="PingFang SC"/>
              </a:rPr>
              <a:t>签到成功率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02352" y="536752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35D0BA"/>
                </a:solidFill>
                <a:latin typeface="PingFang SC"/>
              </a:rPr>
              <a:t>≥ 98%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78624" y="5120640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>
                <a:solidFill>
                  <a:srgbClr val="9FB6C9"/>
                </a:solidFill>
                <a:latin typeface="PingFang SC"/>
              </a:rPr>
              <a:t>语音任务成功率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78624" y="536752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35D0BA"/>
                </a:solidFill>
                <a:latin typeface="PingFang SC"/>
              </a:rPr>
              <a:t>≥ 85%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54896" y="5120640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>
                <a:solidFill>
                  <a:srgbClr val="9FB6C9"/>
                </a:solidFill>
                <a:latin typeface="PingFang SC"/>
              </a:rPr>
              <a:t>端到端延迟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54896" y="536752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35D0BA"/>
                </a:solidFill>
                <a:latin typeface="PingFang SC"/>
              </a:rPr>
              <a:t>&lt; 5s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6217920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5B6B7C"/>
                </a:solidFill>
                <a:latin typeface="PingFang SC"/>
              </a:rPr>
              <a:t>试点度量：会议准时率 / 工位使用率 / Agent 触达率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795760" y="6528816"/>
            <a:ext cx="228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8A99A8"/>
                </a:solidFill>
                <a:latin typeface="PingFang S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0E9F9A"/>
                </a:solidFill>
                <a:latin typeface="PingFang SC"/>
              </a:rPr>
              <a:t>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B1F3A"/>
                </a:solidFill>
                <a:latin typeface="PingFang SC"/>
              </a:rPr>
              <a:t>需要老板拍板的三件事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B6B7C"/>
                </a:solidFill>
                <a:latin typeface="PingFang SC"/>
              </a:rPr>
              <a:t>目标：6–8 周内用真实工位数据证明价值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8A99A8"/>
                </a:solidFill>
                <a:latin typeface="PingFang SC"/>
              </a:rPr>
              <a:t>威思客 · 桌面 AI 助理 / 电子工牌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55480" y="6528816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8A99A8"/>
                </a:solidFill>
                <a:latin typeface="PingFang SC"/>
              </a:rPr>
              <a:t>内部讨论稿 · 2026.10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54480"/>
            <a:ext cx="3511296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86384" y="1773936"/>
            <a:ext cx="475488" cy="475488"/>
          </a:xfrm>
          <a:prstGeom prst="roundRect">
            <a:avLst>
              <a:gd name="adj" fmla="val 18000"/>
            </a:avLst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81051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B1F3A"/>
                </a:solidFill>
                <a:latin typeface="PingFang SC"/>
              </a:rPr>
              <a:t>批准试点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487168"/>
            <a:ext cx="29260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60" b="0">
                <a:solidFill>
                  <a:srgbClr val="5B6B7C"/>
                </a:solidFill>
                <a:latin typeface="PingFang SC"/>
              </a:rPr>
              <a:t>30–50 台设备</a:t>
            </a:r>
          </a:p>
          <a:p>
            <a:pPr algn="l">
              <a:lnSpc>
                <a:spcPct val="150000"/>
              </a:lnSpc>
            </a:pPr>
            <a:r>
              <a:rPr sz="960" b="0">
                <a:solidFill>
                  <a:srgbClr val="5B6B7C"/>
                </a:solidFill>
                <a:latin typeface="PingFang SC"/>
              </a:rPr>
              <a:t>1–2 个楼层</a:t>
            </a:r>
          </a:p>
          <a:p>
            <a:pPr algn="l">
              <a:lnSpc>
                <a:spcPct val="150000"/>
              </a:lnSpc>
            </a:pPr>
            <a:r>
              <a:rPr sz="960" b="0">
                <a:solidFill>
                  <a:srgbClr val="5B6B7C"/>
                </a:solidFill>
                <a:latin typeface="PingFang SC"/>
              </a:rPr>
              <a:t>6–8 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49300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>
                <a:solidFill>
                  <a:srgbClr val="0E9F9A"/>
                </a:solidFill>
                <a:latin typeface="PingFang SC"/>
              </a:rPr>
              <a:t>不批则无法启动 PoC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554480"/>
            <a:ext cx="3511296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35424" y="1773936"/>
            <a:ext cx="475488" cy="475488"/>
          </a:xfrm>
          <a:prstGeom prst="roundRect">
            <a:avLst>
              <a:gd name="adj" fmla="val 18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8928" y="181051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B1F3A"/>
                </a:solidFill>
                <a:latin typeface="PingFang SC"/>
              </a:rPr>
              <a:t>指定接口人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487168"/>
            <a:ext cx="29260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60" b="0">
                <a:solidFill>
                  <a:srgbClr val="5B6B7C"/>
                </a:solidFill>
                <a:latin typeface="PingFang SC"/>
              </a:rPr>
              <a:t>威思客 / Agent 平台</a:t>
            </a:r>
          </a:p>
          <a:p>
            <a:pPr algn="l">
              <a:lnSpc>
                <a:spcPct val="150000"/>
              </a:lnSpc>
            </a:pPr>
            <a:r>
              <a:rPr sz="960" b="0">
                <a:solidFill>
                  <a:srgbClr val="5B6B7C"/>
                </a:solidFill>
                <a:latin typeface="PingFang SC"/>
              </a:rPr>
              <a:t>IT 安全 / 网络</a:t>
            </a:r>
          </a:p>
          <a:p>
            <a:pPr algn="l">
              <a:lnSpc>
                <a:spcPct val="150000"/>
              </a:lnSpc>
            </a:pPr>
            <a:r>
              <a:rPr sz="960" b="0">
                <a:solidFill>
                  <a:srgbClr val="5B6B7C"/>
                </a:solidFill>
                <a:latin typeface="PingFang SC"/>
              </a:rPr>
              <a:t>产品 / 行政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349300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>
                <a:solidFill>
                  <a:srgbClr val="E8A33D"/>
                </a:solidFill>
                <a:latin typeface="PingFang SC"/>
              </a:rPr>
              <a:t>不指定则接口周期不可控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5007" y="1554480"/>
            <a:ext cx="3511296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84463" y="1773936"/>
            <a:ext cx="475488" cy="475488"/>
          </a:xfrm>
          <a:prstGeom prst="roundRect">
            <a:avLst>
              <a:gd name="adj" fmla="val 18000"/>
            </a:avLst>
          </a:prstGeom>
          <a:solidFill>
            <a:srgbClr val="4A6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87967" y="181051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B1F3A"/>
                </a:solidFill>
                <a:latin typeface="PingFang SC"/>
              </a:rPr>
              <a:t>确认产品边界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1" y="2487168"/>
            <a:ext cx="29260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60" b="0">
                <a:solidFill>
                  <a:srgbClr val="5B6B7C"/>
                </a:solidFill>
                <a:latin typeface="PingFang SC"/>
              </a:rPr>
              <a:t>一期：会议 + 工位 + 工牌</a:t>
            </a:r>
          </a:p>
          <a:p>
            <a:pPr algn="l">
              <a:lnSpc>
                <a:spcPct val="150000"/>
              </a:lnSpc>
            </a:pPr>
            <a:r>
              <a:rPr sz="960" b="0">
                <a:solidFill>
                  <a:srgbClr val="5B6B7C"/>
                </a:solidFill>
                <a:latin typeface="PingFang SC"/>
              </a:rPr>
              <a:t>二期：AI 问答 + 智能体</a:t>
            </a:r>
          </a:p>
          <a:p>
            <a:pPr algn="l">
              <a:lnSpc>
                <a:spcPct val="150000"/>
              </a:lnSpc>
            </a:pPr>
            <a:r>
              <a:rPr sz="960" b="0">
                <a:solidFill>
                  <a:srgbClr val="5B6B7C"/>
                </a:solidFill>
                <a:latin typeface="PingFang SC"/>
              </a:rPr>
              <a:t>外观 4B · 部署 SaaS 试点</a:t>
            </a:r>
          </a:p>
          <a:p>
            <a:pPr algn="l">
              <a:lnSpc>
                <a:spcPct val="150000"/>
              </a:lnSpc>
            </a:pPr>
            <a:r>
              <a:rPr sz="960" b="0">
                <a:solidFill>
                  <a:srgbClr val="5B6B7C"/>
                </a:solidFill>
                <a:latin typeface="PingFang SC"/>
              </a:rPr>
              <a:t>不做人脸考勤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1" y="349300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>
                <a:solidFill>
                  <a:srgbClr val="4A6CF7"/>
                </a:solidFill>
                <a:latin typeface="PingFang SC"/>
              </a:rPr>
              <a:t>不确认则范围容易蔓延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422452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B1F3A"/>
                </a:solidFill>
                <a:latin typeface="PingFang SC"/>
              </a:rPr>
              <a:t>未来两周（不等待预算也能启动）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590288"/>
            <a:ext cx="3511296" cy="896112"/>
          </a:xfrm>
          <a:prstGeom prst="roundRect">
            <a:avLst>
              <a:gd name="adj" fmla="val 7000"/>
            </a:avLst>
          </a:prstGeom>
          <a:solidFill>
            <a:srgbClr val="E8F6F5"/>
          </a:solidFill>
          <a:ln w="12700">
            <a:solidFill>
              <a:srgbClr val="0E9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468172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>
                <a:solidFill>
                  <a:srgbClr val="0B6E6B"/>
                </a:solidFill>
                <a:latin typeface="PingFang SC"/>
              </a:rPr>
              <a:t>Week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7048" y="4663440"/>
            <a:ext cx="2423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60" b="0">
                <a:solidFill>
                  <a:srgbClr val="5B6B7C"/>
                </a:solidFill>
                <a:latin typeface="PingFang SC"/>
              </a:rPr>
              <a:t>架构评审 / 4B 板级/UI 评审</a:t>
            </a:r>
          </a:p>
          <a:p>
            <a:pPr algn="l">
              <a:lnSpc>
                <a:spcPct val="125000"/>
              </a:lnSpc>
            </a:pPr>
            <a:r>
              <a:rPr sz="760" b="0">
                <a:solidFill>
                  <a:srgbClr val="5B6B7C"/>
                </a:solidFill>
                <a:latin typeface="PingFang SC"/>
              </a:rPr>
              <a:t>小智云 MCP 能力验证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15968" y="4590288"/>
            <a:ext cx="3511296" cy="896112"/>
          </a:xfrm>
          <a:prstGeom prst="roundRect">
            <a:avLst>
              <a:gd name="adj" fmla="val 7000"/>
            </a:avLst>
          </a:prstGeom>
          <a:solidFill>
            <a:srgbClr val="E8F6F5"/>
          </a:solidFill>
          <a:ln w="12700">
            <a:solidFill>
              <a:srgbClr val="0E9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53128" y="468172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>
                <a:solidFill>
                  <a:srgbClr val="0B6E6B"/>
                </a:solidFill>
                <a:latin typeface="PingFang SC"/>
              </a:rPr>
              <a:t>Week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76088" y="4663440"/>
            <a:ext cx="2423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60" b="0">
                <a:solidFill>
                  <a:srgbClr val="5B6B7C"/>
                </a:solidFill>
                <a:latin typeface="PingFang SC"/>
              </a:rPr>
              <a:t>威思客 / Agent API 对接</a:t>
            </a:r>
          </a:p>
          <a:p>
            <a:pPr algn="l">
              <a:lnSpc>
                <a:spcPct val="125000"/>
              </a:lnSpc>
            </a:pPr>
            <a:r>
              <a:rPr sz="760" b="0">
                <a:solidFill>
                  <a:srgbClr val="5B6B7C"/>
                </a:solidFill>
                <a:latin typeface="PingFang SC"/>
              </a:rPr>
              <a:t>Broker + 设备注册 + 卡片 Demo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65007" y="4590288"/>
            <a:ext cx="3511296" cy="896112"/>
          </a:xfrm>
          <a:prstGeom prst="roundRect">
            <a:avLst>
              <a:gd name="adj" fmla="val 7000"/>
            </a:avLst>
          </a:prstGeom>
          <a:solidFill>
            <a:srgbClr val="E8F6F5"/>
          </a:solidFill>
          <a:ln w="12700">
            <a:solidFill>
              <a:srgbClr val="0E9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02167" y="468172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>
                <a:solidFill>
                  <a:srgbClr val="0B6E6B"/>
                </a:solidFill>
                <a:latin typeface="PingFang SC"/>
              </a:rPr>
              <a:t>Demo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25128" y="4663440"/>
            <a:ext cx="2423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60" b="0">
                <a:solidFill>
                  <a:srgbClr val="5B6B7C"/>
                </a:solidFill>
                <a:latin typeface="PingFang SC"/>
              </a:rPr>
              <a:t>会议提醒 + 工位签到 + 语音问答</a:t>
            </a:r>
          </a:p>
          <a:p>
            <a:pPr algn="l">
              <a:lnSpc>
                <a:spcPct val="125000"/>
              </a:lnSpc>
            </a:pPr>
            <a:r>
              <a:rPr sz="760" b="0">
                <a:solidFill>
                  <a:srgbClr val="5B6B7C"/>
                </a:solidFill>
                <a:latin typeface="PingFang SC"/>
              </a:rPr>
              <a:t>端到端演示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5989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0B1F3A"/>
                </a:solidFill>
                <a:latin typeface="PingFang SC"/>
              </a:rPr>
              <a:t>一句话：把威思客的身份、日程、会议、工位、签到和 Agent 智能体，装进 4 英寸桌面 AI 工牌。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95760" y="6528816"/>
            <a:ext cx="228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8A99A8"/>
                </a:solidFill>
                <a:latin typeface="PingFang SC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威思客桌面 AI 助理 × 桌面电子工牌</dc:title>
  <dc:subject/>
  <dc:creator>威思客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